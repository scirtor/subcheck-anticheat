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809d2382a584f72" /><Relationship Type="http://schemas.openxmlformats.org/officeDocument/2006/relationships/extended-properties" Target="/docProps/app.xml" Id="R3ec7697833d24fa0" /><Relationship Type="http://schemas.openxmlformats.org/officeDocument/2006/relationships/officeDocument" Target="/ppt/presentation.xml" Id="R2b4a7182d08a4ce3" /></Relationships>
</file>

<file path=ppt/presentation.xml><?xml version="1.0" encoding="utf-8"?>
<p:presentation xmlns:p="http://schemas.openxmlformats.org/presentationml/2006/main">
  <p:sldMasterIdLst>
    <p:sldMasterId xmlns:r="http://schemas.openxmlformats.org/officeDocument/2006/relationships" id="2147483648" r:id="R9cd68b21957c4b95"/>
  </p:sldMasterIdLst>
  <p:notesMasterIdLst>
    <p:notesMasterId xmlns:r="http://schemas.openxmlformats.org/officeDocument/2006/relationships" r:id="Raeba0d76815a45b3"/>
  </p:notesMasterIdLst>
  <p:sldIdLst>
    <p:sldId xmlns:r="http://schemas.openxmlformats.org/officeDocument/2006/relationships" id="256" r:id="R856084e6d8b54490"/>
    <p:sldId xmlns:r="http://schemas.openxmlformats.org/officeDocument/2006/relationships" id="257" r:id="R219116cb949e47a3"/>
    <p:sldId xmlns:r="http://schemas.openxmlformats.org/officeDocument/2006/relationships" id="258" r:id="R517bf78278a34cd5"/>
    <p:sldId xmlns:r="http://schemas.openxmlformats.org/officeDocument/2006/relationships" id="259" r:id="Rb91396d8d98f4198"/>
    <p:sldId xmlns:r="http://schemas.openxmlformats.org/officeDocument/2006/relationships" id="260" r:id="R23b3c32bb648455c"/>
    <p:sldId xmlns:r="http://schemas.openxmlformats.org/officeDocument/2006/relationships" id="261" r:id="R8c26fa9d26354129"/>
    <p:sldId xmlns:r="http://schemas.openxmlformats.org/officeDocument/2006/relationships" id="262" r:id="R54d3c92125ce4d42"/>
    <p:sldId xmlns:r="http://schemas.openxmlformats.org/officeDocument/2006/relationships" id="263" r:id="Rdb3e968cf53c4fdf"/>
    <p:sldId xmlns:r="http://schemas.openxmlformats.org/officeDocument/2006/relationships" id="264" r:id="Rd4247464067a4273"/>
    <p:sldId xmlns:r="http://schemas.openxmlformats.org/officeDocument/2006/relationships" id="265" r:id="R374e3a098de24572"/>
    <p:sldId xmlns:r="http://schemas.openxmlformats.org/officeDocument/2006/relationships" id="266" r:id="R1f10309d98ed4a56"/>
    <p:sldId xmlns:r="http://schemas.openxmlformats.org/officeDocument/2006/relationships" id="267" r:id="Rd56ae3b4214141a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a2ec5ed48d140b7" /><Relationship Type="http://schemas.openxmlformats.org/officeDocument/2006/relationships/slideMaster" Target="/ppt/slideMasters/slideMaster1.xml" Id="R9cd68b21957c4b95" /><Relationship Type="http://schemas.openxmlformats.org/officeDocument/2006/relationships/notesMaster" Target="/ppt/notesMasters/notesMaster1.xml" Id="Raeba0d76815a45b3" /><Relationship Type="http://schemas.openxmlformats.org/officeDocument/2006/relationships/presProps" Target="/ppt/presProps.xml" Id="R499a7f5b1a9b4016" /><Relationship Type="http://schemas.openxmlformats.org/officeDocument/2006/relationships/tableStyles" Target="/ppt/tableStyles.xml" Id="R52c8096573eb449e" /><Relationship Type="http://schemas.openxmlformats.org/officeDocument/2006/relationships/slide" Target="/ppt/slides/slide1.xml" Id="R856084e6d8b54490" /><Relationship Type="http://schemas.openxmlformats.org/officeDocument/2006/relationships/slide" Target="/ppt/slides/slide2.xml" Id="R219116cb949e47a3" /><Relationship Type="http://schemas.openxmlformats.org/officeDocument/2006/relationships/slide" Target="/ppt/slides/slide3.xml" Id="R517bf78278a34cd5" /><Relationship Type="http://schemas.openxmlformats.org/officeDocument/2006/relationships/slide" Target="/ppt/slides/slide4.xml" Id="Rb91396d8d98f4198" /><Relationship Type="http://schemas.openxmlformats.org/officeDocument/2006/relationships/slide" Target="/ppt/slides/slide5.xml" Id="R23b3c32bb648455c" /><Relationship Type="http://schemas.openxmlformats.org/officeDocument/2006/relationships/slide" Target="/ppt/slides/slide6.xml" Id="R8c26fa9d26354129" /><Relationship Type="http://schemas.openxmlformats.org/officeDocument/2006/relationships/slide" Target="/ppt/slides/slide7.xml" Id="R54d3c92125ce4d42" /><Relationship Type="http://schemas.openxmlformats.org/officeDocument/2006/relationships/slide" Target="/ppt/slides/slide8.xml" Id="Rdb3e968cf53c4fdf" /><Relationship Type="http://schemas.openxmlformats.org/officeDocument/2006/relationships/slide" Target="/ppt/slides/slide9.xml" Id="Rd4247464067a4273" /><Relationship Type="http://schemas.openxmlformats.org/officeDocument/2006/relationships/slide" Target="/ppt/slides/slide10.xml" Id="R374e3a098de24572" /><Relationship Type="http://schemas.openxmlformats.org/officeDocument/2006/relationships/slide" Target="/ppt/slides/slide11.xml" Id="R1f10309d98ed4a56" /><Relationship Type="http://schemas.openxmlformats.org/officeDocument/2006/relationships/slide" Target="/ppt/slides/slide12.xml" Id="Rd56ae3b4214141a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f195dd0861480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6c58451b04b4e55" /><Relationship Type="http://schemas.openxmlformats.org/officeDocument/2006/relationships/notesMaster" Target="/ppt/notesMasters/notesMaster1.xml" Id="Rfec0f49c4eff41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d755d102994bb7" /><Relationship Type="http://schemas.openxmlformats.org/officeDocument/2006/relationships/notesMaster" Target="/ppt/notesMasters/notesMaster1.xml" Id="R8ca3873eccb94b07" /></Relationships>
</file>

<file path=ppt/notesSlides/_rels/notesSlide3.xml.rels>&#65279;<?xml version="1.0" encoding="utf-8"?><Relationships xmlns="http://schemas.openxmlformats.org/package/2006/relationships"><Relationship Type="http://schemas.openxmlformats.org/officeDocument/2006/relationships/slide" Target="/ppt/slides/slide3.xml" Id="R9f7e2579af654c35" /><Relationship Type="http://schemas.openxmlformats.org/officeDocument/2006/relationships/notesMaster" Target="/ppt/notesMasters/notesMaster1.xml" Id="Ra2399c2736a74fea" /></Relationships>
</file>

<file path=ppt/notesSlides/_rels/notesSlide4.xml.rels>&#65279;<?xml version="1.0" encoding="utf-8"?><Relationships xmlns="http://schemas.openxmlformats.org/package/2006/relationships"><Relationship Type="http://schemas.openxmlformats.org/officeDocument/2006/relationships/slide" Target="/ppt/slides/slide4.xml" Id="Rdc6c83c2dec34c3b" /><Relationship Type="http://schemas.openxmlformats.org/officeDocument/2006/relationships/notesMaster" Target="/ppt/notesMasters/notesMaster1.xml" Id="Rb5bf2d31144141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c5a8da6e398f43d2" /><Relationship Type="http://schemas.openxmlformats.org/officeDocument/2006/relationships/notesMaster" Target="/ppt/notesMasters/notesMaster1.xml" Id="R9135e2d7d9434df7" /></Relationships>
</file>

<file path=ppt/notesSlides/_rels/notesSlide6.xml.rels>&#65279;<?xml version="1.0" encoding="utf-8"?><Relationships xmlns="http://schemas.openxmlformats.org/package/2006/relationships"><Relationship Type="http://schemas.openxmlformats.org/officeDocument/2006/relationships/slide" Target="/ppt/slides/slide6.xml" Id="R99982da7d3d94a15" /><Relationship Type="http://schemas.openxmlformats.org/officeDocument/2006/relationships/notesMaster" Target="/ppt/notesMasters/notesMaster1.xml" Id="Rcf0a9e75e70a4332" /></Relationships>
</file>

<file path=ppt/notesSlides/_rels/notesSlide7.xml.rels>&#65279;<?xml version="1.0" encoding="utf-8"?><Relationships xmlns="http://schemas.openxmlformats.org/package/2006/relationships"><Relationship Type="http://schemas.openxmlformats.org/officeDocument/2006/relationships/slide" Target="/ppt/slides/slide7.xml" Id="R32bb5fe1a4604652" /><Relationship Type="http://schemas.openxmlformats.org/officeDocument/2006/relationships/notesMaster" Target="/ppt/notesMasters/notesMaster1.xml" Id="R89d34c319fa140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73753c99c3304e1b" /><Relationship Type="http://schemas.openxmlformats.org/officeDocument/2006/relationships/notesMaster" Target="/ppt/notesMasters/notesMaster1.xml" Id="R34d7bff11eda4ff4" /></Relationships>
</file>

<file path=ppt/notesSlides/_rels/notesSlide9.xml.rels>&#65279;<?xml version="1.0" encoding="utf-8"?><Relationships xmlns="http://schemas.openxmlformats.org/package/2006/relationships"><Relationship Type="http://schemas.openxmlformats.org/officeDocument/2006/relationships/slide" Target="/ppt/slides/slide9.xml" Id="R96666463fbb948c6" /><Relationship Type="http://schemas.openxmlformats.org/officeDocument/2006/relationships/notesMaster" Target="/ppt/notesMasters/notesMaster1.xml" Id="Rd5bcfa193def4e4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ab4885c3f954062" /><Relationship Type="http://schemas.openxmlformats.org/officeDocument/2006/relationships/notesMaster" Target="/ppt/notesMasters/notesMaster1.xml" Id="Rede887cd6c24418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01a2fcaa76c40b5" /><Relationship Type="http://schemas.openxmlformats.org/officeDocument/2006/relationships/notesMaster" Target="/ppt/notesMasters/notesMaster1.xml" Id="R8de88ed71119443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a60ad1a14884e39" /><Relationship Type="http://schemas.openxmlformats.org/officeDocument/2006/relationships/notesMaster" Target="/ppt/notesMasters/notesMaster1.xml" Id="R2349213dd24b491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35 seconds</a:t>
            </a:r>
          </a:p>
          <a:p xmlns:a="http://schemas.openxmlformats.org/drawingml/2006/main">
            <a:r>
              <a:t/>
            </a:r>
          </a:p>
          <a:p xmlns:a="http://schemas.openxmlformats.org/drawingml/2006/main">
            <a:r>
              <a:t>Say: Hello. We are presenting SUB-CHECK, a proposed anti-cheat service for small shooter studios. It would analyse aiming behaviour using game server data. Moderators would receive a risk score and event evidence. Our study explores the problem and reactions to this idea. We have not yet proved product quality or customer payment.</a:t>
            </a:r>
          </a:p>
          <a:p xmlns:a="http://schemas.openxmlformats.org/drawingml/2006/main">
            <a:r>
              <a:t/>
            </a:r>
          </a:p>
          <a:p xmlns:a="http://schemas.openxmlformats.org/drawingml/2006/main">
            <a:r>
              <a:t>Hint: Introduce the team. Say “proposed service” clearly. Do not describe it as a finished product.</a:t>
            </a:r>
          </a:p>
          <a:p xmlns:a="http://schemas.openxmlformats.org/drawingml/2006/main">
            <a:r>
              <a:t/>
            </a:r>
          </a:p>
          <a:p xmlns:a="http://schemas.openxmlformats.org/drawingml/2006/main">
            <a:r>
              <a:t>Transition: First, we explain our research material.</a:t>
            </a:r>
          </a:p>
          <a:p xmlns:a="http://schemas.openxmlformats.org/drawingml/2006/main">
            <a:r>
              <a:t/>
            </a:r>
          </a:p>
          <a:p xmlns:a="http://schemas.openxmlformats.org/drawingml/2006/main">
            <a:r>
              <a:t>Source: Technology Entrepreneurship. Assignment 3. 8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45 seconds</a:t>
            </a:r>
          </a:p>
          <a:p xmlns:a="http://schemas.openxmlformats.org/drawingml/2006/main">
            <a:r>
              <a:t/>
            </a:r>
          </a:p>
          <a:p xmlns:a="http://schemas.openxmlformats.org/drawingml/2006/main">
            <a:r>
              <a:t>Say: We used twenty survey participants and three recorded interviews. Some questions have nineteen answers. The technical section has nine. We received summary charts, so we cannot connect answers to individual people. We analyse interviews separately because we do not know if participants overlap. The available material remains below the course minimum.</a:t>
            </a:r>
          </a:p>
          <a:p xmlns:a="http://schemas.openxmlformats.org/drawingml/2006/main">
            <a:r>
              <a:t/>
            </a:r>
          </a:p>
          <a:p xmlns:a="http://schemas.openxmlformats.org/drawingml/2006/main">
            <a:r>
              <a:t>Hint: Say the actual counts first. Explain the missing minimum once, without adding the two groups.</a:t>
            </a:r>
          </a:p>
          <a:p xmlns:a="http://schemas.openxmlformats.org/drawingml/2006/main">
            <a:r>
              <a:t/>
            </a:r>
          </a:p>
          <a:p xmlns:a="http://schemas.openxmlformats.org/drawingml/2006/main">
            <a:r>
              <a:t>Transition: Next, we separate buyers, users and players.</a:t>
            </a:r>
          </a:p>
          <a:p xmlns:a="http://schemas.openxmlformats.org/drawingml/2006/main">
            <a:r>
              <a:t/>
            </a:r>
          </a:p>
          <a:p xmlns:a="http://schemas.openxmlformats.org/drawingml/2006/main">
            <a:r>
              <a:t>Source: Sources: 27 survey screenshots and three recordings. Course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40 seconds</a:t>
            </a:r>
          </a:p>
          <a:p xmlns:a="http://schemas.openxmlformats.org/drawingml/2006/main">
            <a:r>
              <a:t/>
            </a:r>
          </a:p>
          <a:p xmlns:a="http://schemas.openxmlformats.org/drawingml/2006/main">
            <a:r>
              <a:t>Say: Our buyer is a lead at a small or medium-sized shooter studio. The buyer controls the budget and the decision to connect the service. Moderators are the daily users. Players benefit from fair matches and careful decisions. The survey includes only two people who selected game developer. Our next interviews should focus on actual studio buyers.</a:t>
            </a:r>
          </a:p>
          <a:p xmlns:a="http://schemas.openxmlformats.org/drawingml/2006/main">
            <a:r>
              <a:t/>
            </a:r>
          </a:p>
          <a:p xmlns:a="http://schemas.openxmlformats.org/drawingml/2006/main">
            <a:r>
              <a:t>Hint: Explain that buyer and user can be different people. Do not call all nine technical participants buyers.</a:t>
            </a:r>
          </a:p>
          <a:p xmlns:a="http://schemas.openxmlformats.org/drawingml/2006/main">
            <a:r>
              <a:t/>
            </a:r>
          </a:p>
          <a:p xmlns:a="http://schemas.openxmlformats.org/drawingml/2006/main">
            <a:r>
              <a:t>Transition: The survey gives an early view of the cheating problem.</a:t>
            </a:r>
          </a:p>
          <a:p xmlns:a="http://schemas.openxmlformats.org/drawingml/2006/main">
            <a:r>
              <a:t/>
            </a:r>
          </a:p>
          <a:p xmlns:a="http://schemas.openxmlformats.org/drawingml/2006/main">
            <a:r>
              <a:t>Source: Sources: Assignment 2, Q01 and Q03. Future recruitment is our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40 seconds</a:t>
            </a:r>
          </a:p>
          <a:p xmlns:a="http://schemas.openxmlformats.org/drawingml/2006/main">
            <a:r>
              <a:t/>
            </a:r>
          </a:p>
          <a:p xmlns:a="http://schemas.openxmlformats.org/drawingml/2006/main">
            <a:r>
              <a:t>Say: Seventeen of nineteen participants rated the cheating problem at four or five out of five. This is about ninety percent. Fourteen of twenty met cheating often or sometimes. Satisfaction with current tools averaged two point nine five out of five. These answers show a relevant problem in our sample. They do not describe every player or studio.</a:t>
            </a:r>
          </a:p>
          <a:p xmlns:a="http://schemas.openxmlformats.org/drawingml/2006/main">
            <a:r>
              <a:t/>
            </a:r>
          </a:p>
          <a:p xmlns:a="http://schemas.openxmlformats.org/drawingml/2006/main">
            <a:r>
              <a:t>Hint: Point to the counts before the percentages. “17 out of 19” is easier to say than 89.5%.</a:t>
            </a:r>
          </a:p>
          <a:p xmlns:a="http://schemas.openxmlformats.org/drawingml/2006/main">
            <a:r>
              <a:t/>
            </a:r>
          </a:p>
          <a:p xmlns:a="http://schemas.openxmlformats.org/drawingml/2006/main">
            <a:r>
              <a:t>Transition: We then asked about the SUB-CHECK idea.</a:t>
            </a:r>
          </a:p>
          <a:p xmlns:a="http://schemas.openxmlformats.org/drawingml/2006/main">
            <a:r>
              <a:t/>
            </a:r>
          </a:p>
          <a:p xmlns:a="http://schemas.openxmlformats.org/drawingml/2006/main">
            <a:r>
              <a:t>Source: Sources: Q05 n=19, Q06 n=20, Q10 n=19.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45 seconds</a:t>
            </a:r>
          </a:p>
          <a:p xmlns:a="http://schemas.openxmlformats.org/drawingml/2006/main">
            <a:r>
              <a:t/>
            </a:r>
          </a:p>
          <a:p xmlns:a="http://schemas.openxmlformats.org/drawingml/2006/main">
            <a:r>
              <a:t>Say: Sixteen of twenty rated the idea’s usefulness at four or five. However, eleven selected accuracy as a concern. Nine selected wrong alerts, and nine selected game data privacy. Seven selected server costs. People could choose several concerns. These results help us choose what to test first. They do not prove that the service detects cheating well.</a:t>
            </a:r>
          </a:p>
          <a:p xmlns:a="http://schemas.openxmlformats.org/drawingml/2006/main">
            <a:r>
              <a:t/>
            </a:r>
          </a:p>
          <a:p xmlns:a="http://schemas.openxmlformats.org/drawingml/2006/main">
            <a:r>
              <a:t>Hint: Reveal the bars one at a time. A wrong alert means a fair player receives a cheating alert.</a:t>
            </a:r>
          </a:p>
          <a:p xmlns:a="http://schemas.openxmlformats.org/drawingml/2006/main">
            <a:r>
              <a:t/>
            </a:r>
          </a:p>
          <a:p xmlns:a="http://schemas.openxmlformats.org/drawingml/2006/main">
            <a:r>
              <a:t>Transition: This leads to the question of fair review.</a:t>
            </a:r>
          </a:p>
          <a:p xmlns:a="http://schemas.openxmlformats.org/drawingml/2006/main">
            <a:r>
              <a:t/>
            </a:r>
          </a:p>
          <a:p xmlns:a="http://schemas.openxmlformats.org/drawingml/2006/main">
            <a:r>
              <a:t>Source: Sources: Q13 and Q16, n=20. People could select several concerns.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45 seconds</a:t>
            </a:r>
          </a:p>
          <a:p xmlns:a="http://schemas.openxmlformats.org/drawingml/2006/main">
            <a:r>
              <a:t/>
            </a:r>
          </a:p>
          <a:p xmlns:a="http://schemas.openxmlformats.org/drawingml/2006/main">
            <a:r>
              <a:t>Say: Twelve participants selected manual review, and twelve selected extra checks. These groups may overlap. All twenty said yes or probably yes when asked whether review before a permanent ban would increase trust. The question describes review positively. We still need to test whether people accept its time and cost. Our pilot keeps permanent-ban decisions with moderators.</a:t>
            </a:r>
          </a:p>
          <a:p xmlns:a="http://schemas.openxmlformats.org/drawingml/2006/main">
            <a:r>
              <a:t/>
            </a:r>
          </a:p>
          <a:p xmlns:a="http://schemas.openxmlformats.org/drawingml/2006/main">
            <a:r>
              <a:t>Hint: Do not add the two groups of twelve. Say that trust is a stated opinion, not measured behaviour.</a:t>
            </a:r>
          </a:p>
          <a:p xmlns:a="http://schemas.openxmlformats.org/drawingml/2006/main">
            <a:r>
              <a:t/>
            </a:r>
          </a:p>
          <a:p xmlns:a="http://schemas.openxmlformats.org/drawingml/2006/main">
            <a:r>
              <a:t>Transition: The technical answers also show a need for control.</a:t>
            </a:r>
          </a:p>
          <a:p xmlns:a="http://schemas.openxmlformats.org/drawingml/2006/main">
            <a:r>
              <a:t/>
            </a:r>
          </a:p>
          <a:p xmlns:a="http://schemas.openxmlformats.org/drawingml/2006/main">
            <a:r>
              <a:t>Source: Sources: Q17 and Q18, n=20. Several actions could be selected.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45 seconds</a:t>
            </a:r>
          </a:p>
          <a:p xmlns:a="http://schemas.openxmlformats.org/drawingml/2006/main">
            <a:r>
              <a:t/>
            </a:r>
          </a:p>
          <a:p xmlns:a="http://schemas.openxmlformats.org/drawingml/2006/main">
            <a:r>
              <a:t>Say: Six of nine technical participants selected running the service on their own servers. Three selected managed cloud. An API, SDK and engine plugin each received four selections. These options can overlap. Five would share data only with strict privacy controls. We should compare server options in a pilot. This small group cannot decide the whole product design.</a:t>
            </a:r>
          </a:p>
          <a:p xmlns:a="http://schemas.openxmlformats.org/drawingml/2006/main">
            <a:r>
              <a:t/>
            </a:r>
          </a:p>
          <a:p xmlns:a="http://schemas.openxmlformats.org/drawingml/2006/main">
            <a:r>
              <a:t>Hint: Own servers means self-hosting. API connects systems. SDK gives code tools. Define terms only if needed.</a:t>
            </a:r>
          </a:p>
          <a:p xmlns:a="http://schemas.openxmlformats.org/drawingml/2006/main">
            <a:r>
              <a:t/>
            </a:r>
          </a:p>
          <a:p xmlns:a="http://schemas.openxmlformats.org/drawingml/2006/main">
            <a:r>
              <a:t>Transition: The interviews show why these choices matter.</a:t>
            </a:r>
          </a:p>
          <a:p xmlns:a="http://schemas.openxmlformats.org/drawingml/2006/main">
            <a:r>
              <a:t/>
            </a:r>
          </a:p>
          <a:p xmlns:a="http://schemas.openxmlformats.org/drawingml/2006/main">
            <a:r>
              <a:t>Source: Sources: Q21 and Q23, n=9. These are technical participants, not confirmed buyers.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Say: The mobile game director mainly needs protection for game values, such as money. This is a limited fit for our first aiming product. The independent developer checked logs after a score filter wrongly rejected users. The third developer said data analysis must not stop gameplay and can still add extra load. These interviews support careful review and reliable integration. None includes a purchase commitment.</a:t>
            </a:r>
          </a:p>
          <a:p xmlns:a="http://schemas.openxmlformats.org/drawingml/2006/main">
            <a:r>
              <a:t/>
            </a:r>
          </a:p>
          <a:p xmlns:a="http://schemas.openxmlformats.org/drawingml/2006/main">
            <a:r>
              <a:t>Hint: Describe one example per interview. Use anonymous IDs. Do not present their needs as one common vote.</a:t>
            </a:r>
          </a:p>
          <a:p xmlns:a="http://schemas.openxmlformats.org/drawingml/2006/main">
            <a:r>
              <a:t/>
            </a:r>
          </a:p>
          <a:p xmlns:a="http://schemas.openxmlformats.org/drawingml/2006/main">
            <a:r>
              <a:t>Transition: We used these findings to update the idea.</a:t>
            </a:r>
          </a:p>
          <a:p xmlns:a="http://schemas.openxmlformats.org/drawingml/2006/main">
            <a:r>
              <a:t/>
            </a:r>
          </a:p>
          <a:p xmlns:a="http://schemas.openxmlformats.org/drawingml/2006/main">
            <a:r>
              <a:t>Source: Sources: I01 03:32–04:12, I02 01:48–02:20, I03 12:00–13:17 and 15:15–17:17.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45 seconds</a:t>
            </a:r>
          </a:p>
          <a:p xmlns:a="http://schemas.openxmlformats.org/drawingml/2006/main">
            <a:r>
              <a:t/>
            </a:r>
          </a:p>
          <a:p xmlns:a="http://schemas.openxmlformats.org/drawingml/2006/main">
            <a:r>
              <a:t>Say: Assignment two already focused on shooter studios and human review. We keep these choices. We now add clearer event evidence, saved review decisions and data controls. We also compare local and cloud deployment. Before a pilot, we confirm that the studio has an aiming problem and can share the needed data. Missing data alone must never cause punishment.</a:t>
            </a:r>
          </a:p>
          <a:p xmlns:a="http://schemas.openxmlformats.org/drawingml/2006/main">
            <a:r>
              <a:t/>
            </a:r>
          </a:p>
          <a:p xmlns:a="http://schemas.openxmlformats.org/drawingml/2006/main">
            <a:r>
              <a:t>Hint: Separate earlier choices from new changes. Mention that gameplay continues during analysis failures.</a:t>
            </a:r>
          </a:p>
          <a:p xmlns:a="http://schemas.openxmlformats.org/drawingml/2006/main">
            <a:r>
              <a:t/>
            </a:r>
          </a:p>
          <a:p xmlns:a="http://schemas.openxmlformats.org/drawingml/2006/main">
            <a:r>
              <a:t>Transition: The updated business model follows these choices.</a:t>
            </a:r>
          </a:p>
          <a:p xmlns:a="http://schemas.openxmlformats.org/drawingml/2006/main">
            <a:r>
              <a:t/>
            </a:r>
          </a:p>
          <a:p xmlns:a="http://schemas.openxmlformats.org/drawingml/2006/main">
            <a:r>
              <a:t>Source: Sources: Assignment 2, survey Q16–Q25 and I01–I03.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45 seconds</a:t>
            </a:r>
          </a:p>
          <a:p xmlns:a="http://schemas.openxmlformats.org/drawingml/2006/main">
            <a:r>
              <a:t/>
            </a:r>
          </a:p>
          <a:p xmlns:a="http://schemas.openxmlformats.org/drawingml/2006/main">
            <a:r>
              <a:t>Say: The business model has nine parts. Shooter studios are our customers. The proposed value is useful aim evidence and fair review. We plan to reach studios through developer contacts and guides. We would help with integration and support. Revenue may come from monthly or usage prices after a free pilot. Our main costs include development, servers and support. These are working hypotheses.</a:t>
            </a:r>
          </a:p>
          <a:p xmlns:a="http://schemas.openxmlformats.org/drawingml/2006/main">
            <a:r>
              <a:t/>
            </a:r>
          </a:p>
          <a:p xmlns:a="http://schemas.openxmlformats.org/drawingml/2006/main">
            <a:r>
              <a:t>Hint: Do not read every box. Explain customer, value, revenue and costs. No price has been confirmed.</a:t>
            </a:r>
          </a:p>
          <a:p xmlns:a="http://schemas.openxmlformats.org/drawingml/2006/main">
            <a:r>
              <a:t/>
            </a:r>
          </a:p>
          <a:p xmlns:a="http://schemas.openxmlformats.org/drawingml/2006/main">
            <a:r>
              <a:t>Transition: We need practical tests before stronger business claims.</a:t>
            </a:r>
          </a:p>
          <a:p xmlns:a="http://schemas.openxmlformats.org/drawingml/2006/main">
            <a:r>
              <a:t/>
            </a:r>
          </a:p>
          <a:p xmlns:a="http://schemas.openxmlformats.org/drawingml/2006/main">
            <a:r>
              <a:t>Source: Working hypotheses. No confirmed prices or measured service costs.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45 seconds</a:t>
            </a:r>
          </a:p>
          <a:p xmlns:a="http://schemas.openxmlformats.org/drawingml/2006/main">
            <a:r>
              <a:t/>
            </a:r>
          </a:p>
          <a:p xmlns:a="http://schemas.openxmlformats.org/drawingml/2006/main">
            <a:r>
              <a:t>Say: We propose at least eight interviews with studio leads or moderators. We would continue if three studios offer concrete pilots with available data and a responsible person. We would test correct alerts and wrong alerts using separate test players. We also target twenty percent less median review time, with no worse decisions. These are future targets. We have not achieved them.</a:t>
            </a:r>
          </a:p>
          <a:p xmlns:a="http://schemas.openxmlformats.org/drawingml/2006/main">
            <a:r>
              <a:t/>
            </a:r>
          </a:p>
          <a:p xmlns:a="http://schemas.openxmlformats.org/drawingml/2006/main">
            <a:r>
              <a:t>Hint: Stress “propose” and “target”. The 20% is a review-time goal, not detection accuracy.</a:t>
            </a:r>
          </a:p>
          <a:p xmlns:a="http://schemas.openxmlformats.org/drawingml/2006/main">
            <a:r>
              <a:t/>
            </a:r>
          </a:p>
          <a:p xmlns:a="http://schemas.openxmlformats.org/drawingml/2006/main">
            <a:r>
              <a:t>Transition: Finally, we state what the study can support.</a:t>
            </a:r>
          </a:p>
          <a:p xmlns:a="http://schemas.openxmlformats.org/drawingml/2006/main">
            <a:r>
              <a:t/>
            </a:r>
          </a:p>
          <a:p xmlns:a="http://schemas.openxmlformats.org/drawingml/2006/main">
            <a:r>
              <a:t>Source: Proposed targets. We have not achieved these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30 seconds</a:t>
            </a:r>
          </a:p>
          <a:p xmlns:a="http://schemas.openxmlformats.org/drawingml/2006/main">
            <a:r>
              <a:t/>
            </a:r>
          </a:p>
          <a:p xmlns:a="http://schemas.openxmlformats.org/drawingml/2006/main">
            <a:r>
              <a:t>Say: Our study supports a focused pilot for SUB-CHECK. The main priorities are detection quality, fewer wrong alerts and control over game data. We still need to test studio demand, actual payment and technical performance. We also need more participant evidence to meet the course minimum. Thank you. We are ready for questions.</a:t>
            </a:r>
          </a:p>
          <a:p xmlns:a="http://schemas.openxmlformats.org/drawingml/2006/main">
            <a:r>
              <a:t/>
            </a:r>
          </a:p>
          <a:p xmlns:a="http://schemas.openxmlformats.org/drawingml/2006/main">
            <a:r>
              <a:t>Hint: End with what you learned and what you will test. Avoid saying the product or business model is fully validated.</a:t>
            </a:r>
          </a:p>
          <a:p xmlns:a="http://schemas.openxmlformats.org/drawingml/2006/main">
            <a:r>
              <a:t/>
            </a:r>
          </a:p>
          <a:p xmlns:a="http://schemas.openxmlformats.org/drawingml/2006/main">
            <a:r>
              <a:t>Transition: Questions and discussion.</a:t>
            </a:r>
          </a:p>
          <a:p xmlns:a="http://schemas.openxmlformats.org/drawingml/2006/main">
            <a:r>
              <a:t/>
            </a:r>
          </a:p>
          <a:p xmlns:a="http://schemas.openxmlformats.org/drawingml/2006/main">
            <a:r>
              <a:t>Source: Sources: survey summaries, interview notes and course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eaff5356754cb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dc993605efa4ab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c2455bfb137486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642972c311b4a3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3cc6b114a9f497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137c475f912484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154F31-05A1-48ED-B928-F73241BD70C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C8BA9C2-3A02-43F3-BDA1-E74035C805D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62B7A6B-85E3-4B48-9281-533DAB64994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402C8B-F60B-42B8-A3A6-485E5973B0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B55D492-EB89-4BED-A850-36A0A50946B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7A74FF9-B860-423D-9E31-F7CF67EF1E1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85197ED-F9C2-4F55-BCEA-88116E2F482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7227539-6CA7-460C-B701-9045DFFB7F1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B1B041D-701A-4AAA-8816-8C862173434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4EEED44-5E9A-4F6E-A18D-EFD1745CE0C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ae5a816c41c45f4" /><Relationship Type="http://schemas.openxmlformats.org/officeDocument/2006/relationships/slideLayout" Target="/ppt/slideLayouts/slideLayout1.xml" Id="R45b8d27df2454236" /><Relationship Type="http://schemas.openxmlformats.org/officeDocument/2006/relationships/slideLayout" Target="/ppt/slideLayouts/slideLayout2.xml" Id="Rbe5f539e0cfa4a9c" /><Relationship Type="http://schemas.openxmlformats.org/officeDocument/2006/relationships/slideLayout" Target="/ppt/slideLayouts/slideLayout3.xml" Id="R0a44d51c785343e6" /><Relationship Type="http://schemas.openxmlformats.org/officeDocument/2006/relationships/slideLayout" Target="/ppt/slideLayouts/slideLayout4.xml" Id="R061d1dd2db8446da" /><Relationship Type="http://schemas.openxmlformats.org/officeDocument/2006/relationships/slideLayout" Target="/ppt/slideLayouts/slideLayout5.xml" Id="R10594e8f01e3489f" /><Relationship Type="http://schemas.openxmlformats.org/officeDocument/2006/relationships/slideLayout" Target="/ppt/slideLayouts/slideLayout6.xml" Id="Ra4b9bbc83c01469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b8d27df2454236"/>
    <p:sldLayoutId xmlns:r="http://schemas.openxmlformats.org/officeDocument/2006/relationships" id="2147483650" r:id="Rbe5f539e0cfa4a9c"/>
    <p:sldLayoutId xmlns:r="http://schemas.openxmlformats.org/officeDocument/2006/relationships" id="2147483651" r:id="R0a44d51c785343e6"/>
    <p:sldLayoutId xmlns:r="http://schemas.openxmlformats.org/officeDocument/2006/relationships" id="2147483652" r:id="R061d1dd2db8446da"/>
    <p:sldLayoutId xmlns:r="http://schemas.openxmlformats.org/officeDocument/2006/relationships" id="2147483653" r:id="R10594e8f01e3489f"/>
    <p:sldLayoutId xmlns:r="http://schemas.openxmlformats.org/officeDocument/2006/relationships" id="2147483654" r:id="Ra4b9bbc83c01469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20000842cd44c2a" /><Relationship Type="http://schemas.openxmlformats.org/officeDocument/2006/relationships/notesSlide" Target="/ppt/notesSlides/notesSlide1.xml" Id="R3b3b0cd3b2d04b0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3cdf105dee44857" /><Relationship Type="http://schemas.openxmlformats.org/officeDocument/2006/relationships/notesSlide" Target="/ppt/notesSlides/notesSlide2.xml" Id="R48bad7927af540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e3f50489f6e4b44" /><Relationship Type="http://schemas.openxmlformats.org/officeDocument/2006/relationships/notesSlide" Target="/ppt/notesSlides/notesSlide3.xml" Id="R7f716be1b70e461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35e606fd4c54933" /><Relationship Type="http://schemas.openxmlformats.org/officeDocument/2006/relationships/notesSlide" Target="/ppt/notesSlides/notesSlide4.xml" Id="Rc0ce750695384d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d5a61f8f1004c2d" /><Relationship Type="http://schemas.openxmlformats.org/officeDocument/2006/relationships/chart" Target="/ppt/slides/charts/chart1.xml" Id="Rcb8da24fb721464b" /><Relationship Type="http://schemas.openxmlformats.org/officeDocument/2006/relationships/notesSlide" Target="/ppt/notesSlides/notesSlide5.xml" Id="R0a254ebae20543a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7a7814801c24165" /><Relationship Type="http://schemas.openxmlformats.org/officeDocument/2006/relationships/chart" Target="/ppt/slides/charts/chart2.xml" Id="Rb57b3bcb6dd74bc7" /><Relationship Type="http://schemas.openxmlformats.org/officeDocument/2006/relationships/notesSlide" Target="/ppt/notesSlides/notesSlide6.xml" Id="Rb13a423e484f462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d85bca888754b33" /><Relationship Type="http://schemas.openxmlformats.org/officeDocument/2006/relationships/chart" Target="/ppt/slides/charts/chart3.xml" Id="R3ac574bf5dd54496" /><Relationship Type="http://schemas.openxmlformats.org/officeDocument/2006/relationships/notesSlide" Target="/ppt/notesSlides/notesSlide7.xml" Id="Rcb938f05d26a4bc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88291a0cb01433d" /><Relationship Type="http://schemas.openxmlformats.org/officeDocument/2006/relationships/notesSlide" Target="/ppt/notesSlides/notesSlide8.xml" Id="R20b6d5eb6e48405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839ce1400d94633" /><Relationship Type="http://schemas.openxmlformats.org/officeDocument/2006/relationships/notesSlide" Target="/ppt/notesSlides/notesSlide9.xml" Id="R58fa4d217c5a4ac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5e67c4c717e4c36" /><Relationship Type="http://schemas.openxmlformats.org/officeDocument/2006/relationships/notesSlide" Target="/ppt/notesSlides/notesSlide10.xml" Id="Ref93ed20054c40e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5dc0bc2ed5e40f9" /><Relationship Type="http://schemas.openxmlformats.org/officeDocument/2006/relationships/notesSlide" Target="/ppt/notesSlides/notesSlide11.xml" Id="R081d7be660af473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848e80fed9b4bbb" /><Relationship Type="http://schemas.openxmlformats.org/officeDocument/2006/relationships/notesSlide" Target="/ppt/notesSlides/notesSlide12.xml" Id="Rc8abf87b454041e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Participants</c:v>
          </c:tx>
          <c:spPr>
            <a:solidFill xmlns:a="http://schemas.openxmlformats.org/drawingml/2006/main">
              <a:srgbClr val="58DDCD"/>
            </a:solidFill>
          </c:spPr>
          <c:cat>
            <c:strRef>
              <c:f>'Chart Data'!$A$2:$A$5</c:f>
              <c:strCache>
                <c:ptCount val="4"/>
                <c:pt idx="0">
                  <c:v>Accuracy</c:v>
                </c:pt>
                <c:pt idx="1">
                  <c:v>Wrong alerts</c:v>
                </c:pt>
                <c:pt idx="2">
                  <c:v>Game data privacy</c:v>
                </c:pt>
                <c:pt idx="3">
                  <c:v>Server costs</c:v>
                </c:pt>
              </c:strCache>
            </c:strRef>
          </c:cat>
          <c:val>
            <c:numRef>
              <c:f>'Chart Data'!$B$2:$B$5</c:f>
              <c:numCache>
                <c:formatCode>General</c:formatCode>
                <c:ptCount val="4"/>
                <c:pt idx="0">
                  <c:v>11</c:v>
                </c:pt>
                <c:pt idx="1">
                  <c:v>9</c:v>
                </c:pt>
                <c:pt idx="2">
                  <c:v>9</c:v>
                </c:pt>
                <c:pt idx="3">
                  <c:v>7</c:v>
                </c:pt>
              </c:numCache>
            </c:numRef>
          </c:val>
        </c:ser>
        <c:dLbls>
          <c:txPr>
            <a:bodyPr xmlns:a="http://schemas.openxmlformats.org/drawingml/2006/main" anchorCtr="1"/>
            <a:lstStyle xmlns:a="http://schemas.openxmlformats.org/drawingml/2006/main"/>
            <a:p xmlns:a="http://schemas.openxmlformats.org/drawingml/2006/main">
              <a:pPr>
                <a:defRPr sz="1650">
                  <a:solidFill>
                    <a:srgbClr val="F4F4ED"/>
                  </a:solidFill>
                  <a:latin typeface="Calibri"/>
                  <a:ea typeface="Calibri"/>
                  <a:cs typeface="Calibri"/>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F4F4ED"/>
                </a:solidFill>
                <a:latin typeface="Calibri"/>
                <a:ea typeface="Calibri"/>
                <a:cs typeface="Calibri"/>
              </a:defRPr>
            </a:pPr>
          </a:p>
        </c:txPr>
        <c:crossAx val="48672768"/>
      </c:catAx>
      <c:valAx>
        <c:axId val="48672768"/>
        <c:scaling>
          <c:orientation val="minMax"/>
          <c:max val="20"/>
          <c:min val="0"/>
        </c:scaling>
        <c:delete val="0"/>
        <c:axPos val="b"/>
        <c:majorGridlines>
          <c:spPr>
            <a:ln xmlns:a="http://schemas.openxmlformats.org/drawingml/2006/main" w="9525">
              <a:solidFill>
                <a:srgbClr val="253331"/>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AEB6B4"/>
                </a:solidFill>
                <a:latin typeface="Calibri"/>
                <a:ea typeface="Calibri"/>
                <a:cs typeface="Calibri"/>
              </a:defRPr>
            </a:pPr>
          </a:p>
        </c:txPr>
        <c:crossAx val="48650112"/>
        <c:crossBetween val="between"/>
        <c:majorUnit val="5"/>
      </c:valAx>
      <c:spPr>
        <a:solidFill xmlns:a="http://schemas.openxmlformats.org/drawingml/2006/main">
          <a:srgbClr val="080B0C"/>
        </a:solidFill>
      </c:spPr>
    </c:plotArea>
    <c:plotVisOnly val="1"/>
  </c:chart>
  <c:spPr>
    <a:solidFill xmlns:a="http://schemas.openxmlformats.org/drawingml/2006/main">
      <a:srgbClr val="080B0C"/>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Participants</c:v>
          </c:tx>
          <c:spPr>
            <a:solidFill xmlns:a="http://schemas.openxmlformats.org/drawingml/2006/main">
              <a:srgbClr val="58DDCD"/>
            </a:solidFill>
          </c:spPr>
          <c:cat>
            <c:strRef>
              <c:f>'Chart Data'!$A$2:$A$5</c:f>
              <c:strCache>
                <c:ptCount val="4"/>
                <c:pt idx="0">
                  <c:v>Manual review</c:v>
                </c:pt>
                <c:pt idx="1">
                  <c:v>Extra checks</c:v>
                </c:pt>
                <c:pt idx="2">
                  <c:v>Temporary limits</c:v>
                </c:pt>
                <c:pt idx="3">
                  <c:v>Immediate ban</c:v>
                </c:pt>
              </c:strCache>
            </c:strRef>
          </c:cat>
          <c:val>
            <c:numRef>
              <c:f>'Chart Data'!$B$2:$B$5</c:f>
              <c:numCache>
                <c:formatCode>General</c:formatCode>
                <c:ptCount val="4"/>
                <c:pt idx="0">
                  <c:v>12</c:v>
                </c:pt>
                <c:pt idx="1">
                  <c:v>12</c:v>
                </c:pt>
                <c:pt idx="2">
                  <c:v>8</c:v>
                </c:pt>
                <c:pt idx="3">
                  <c:v>7</c:v>
                </c:pt>
              </c:numCache>
            </c:numRef>
          </c:val>
        </c:ser>
        <c:dLbls>
          <c:txPr>
            <a:bodyPr xmlns:a="http://schemas.openxmlformats.org/drawingml/2006/main" anchorCtr="1"/>
            <a:lstStyle xmlns:a="http://schemas.openxmlformats.org/drawingml/2006/main"/>
            <a:p xmlns:a="http://schemas.openxmlformats.org/drawingml/2006/main">
              <a:pPr>
                <a:defRPr sz="1650">
                  <a:solidFill>
                    <a:srgbClr val="F4F4ED"/>
                  </a:solidFill>
                  <a:latin typeface="Calibri"/>
                  <a:ea typeface="Calibri"/>
                  <a:cs typeface="Calibri"/>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F4F4ED"/>
                </a:solidFill>
                <a:latin typeface="Calibri"/>
                <a:ea typeface="Calibri"/>
                <a:cs typeface="Calibri"/>
              </a:defRPr>
            </a:pPr>
          </a:p>
        </c:txPr>
        <c:crossAx val="48672768"/>
      </c:catAx>
      <c:valAx>
        <c:axId val="48672768"/>
        <c:scaling>
          <c:orientation val="minMax"/>
          <c:max val="20"/>
          <c:min val="0"/>
        </c:scaling>
        <c:delete val="0"/>
        <c:axPos val="b"/>
        <c:majorGridlines>
          <c:spPr>
            <a:ln xmlns:a="http://schemas.openxmlformats.org/drawingml/2006/main" w="9525">
              <a:solidFill>
                <a:srgbClr val="253331"/>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AEB6B4"/>
                </a:solidFill>
                <a:latin typeface="Calibri"/>
                <a:ea typeface="Calibri"/>
                <a:cs typeface="Calibri"/>
              </a:defRPr>
            </a:pPr>
          </a:p>
        </c:txPr>
        <c:crossAx val="48650112"/>
        <c:crossBetween val="between"/>
        <c:majorUnit val="5"/>
      </c:valAx>
      <c:spPr>
        <a:solidFill xmlns:a="http://schemas.openxmlformats.org/drawingml/2006/main">
          <a:srgbClr val="080B0C"/>
        </a:solidFill>
      </c:spPr>
    </c:plotArea>
    <c:plotVisOnly val="1"/>
  </c:chart>
  <c:spPr>
    <a:solidFill xmlns:a="http://schemas.openxmlformats.org/drawingml/2006/main">
      <a:srgbClr val="080B0C"/>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Participants</c:v>
          </c:tx>
          <c:spPr>
            <a:solidFill xmlns:a="http://schemas.openxmlformats.org/drawingml/2006/main">
              <a:srgbClr val="58DDCD"/>
            </a:solidFill>
          </c:spPr>
          <c:cat>
            <c:strRef>
              <c:f>'Chart Data'!$A$2:$A$6</c:f>
              <c:strCache>
                <c:ptCount val="5"/>
                <c:pt idx="0">
                  <c:v>Own servers</c:v>
                </c:pt>
                <c:pt idx="1">
                  <c:v>API</c:v>
                </c:pt>
                <c:pt idx="2">
                  <c:v>SDK</c:v>
                </c:pt>
                <c:pt idx="3">
                  <c:v>Engine plugin</c:v>
                </c:pt>
                <c:pt idx="4">
                  <c:v>Managed cloud</c:v>
                </c:pt>
              </c:strCache>
            </c:strRef>
          </c:cat>
          <c:val>
            <c:numRef>
              <c:f>'Chart Data'!$B$2:$B$6</c:f>
              <c:numCache>
                <c:formatCode>General</c:formatCode>
                <c:ptCount val="5"/>
                <c:pt idx="0">
                  <c:v>6</c:v>
                </c:pt>
                <c:pt idx="1">
                  <c:v>4</c:v>
                </c:pt>
                <c:pt idx="2">
                  <c:v>4</c:v>
                </c:pt>
                <c:pt idx="3">
                  <c:v>4</c:v>
                </c:pt>
                <c:pt idx="4">
                  <c:v>3</c:v>
                </c:pt>
              </c:numCache>
            </c:numRef>
          </c:val>
        </c:ser>
        <c:dLbls>
          <c:txPr>
            <a:bodyPr xmlns:a="http://schemas.openxmlformats.org/drawingml/2006/main" anchorCtr="1"/>
            <a:lstStyle xmlns:a="http://schemas.openxmlformats.org/drawingml/2006/main"/>
            <a:p xmlns:a="http://schemas.openxmlformats.org/drawingml/2006/main">
              <a:pPr>
                <a:defRPr sz="1650">
                  <a:solidFill>
                    <a:srgbClr val="F4F4ED"/>
                  </a:solidFill>
                  <a:latin typeface="Calibri"/>
                  <a:ea typeface="Calibri"/>
                  <a:cs typeface="Calibri"/>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F4F4ED"/>
                </a:solidFill>
                <a:latin typeface="Calibri"/>
                <a:ea typeface="Calibri"/>
                <a:cs typeface="Calibri"/>
              </a:defRPr>
            </a:pPr>
          </a:p>
        </c:txPr>
        <c:crossAx val="48672768"/>
      </c:catAx>
      <c:valAx>
        <c:axId val="48672768"/>
        <c:scaling>
          <c:orientation val="minMax"/>
          <c:max val="9"/>
          <c:min val="0"/>
        </c:scaling>
        <c:delete val="0"/>
        <c:axPos val="b"/>
        <c:majorGridlines>
          <c:spPr>
            <a:ln xmlns:a="http://schemas.openxmlformats.org/drawingml/2006/main" w="9525">
              <a:solidFill>
                <a:srgbClr val="253331"/>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AEB6B4"/>
                </a:solidFill>
                <a:latin typeface="Calibri"/>
                <a:ea typeface="Calibri"/>
                <a:cs typeface="Calibri"/>
              </a:defRPr>
            </a:pPr>
          </a:p>
        </c:txPr>
        <c:crossAx val="48650112"/>
        <c:crossBetween val="between"/>
        <c:majorUnit val="3"/>
      </c:valAx>
      <c:spPr>
        <a:solidFill xmlns:a="http://schemas.openxmlformats.org/drawingml/2006/main">
          <a:srgbClr val="080B0C"/>
        </a:solidFill>
      </c:spPr>
    </c:plotArea>
    <c:plotVisOnly val="1"/>
  </c:chart>
  <c:spPr>
    <a:solidFill xmlns:a="http://schemas.openxmlformats.org/drawingml/2006/main">
      <a:srgbClr val="080B0C"/>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80B0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C065FCC-417B-4E04-AC08-D0250AFC6EB4}"/>
              </a:ext>
            </a:extLst>
          </p:cNvPr>
          <p:cNvSpPr>
            <a:spLocks xmlns:a="http://schemas.openxmlformats.org/drawingml/2006/main" noGrp="1"/>
          </p:cNvSpPr>
          <p:nvPr/>
        </p:nvSpPr>
        <p:spPr>
          <a:xfrm xmlns:a="http://schemas.openxmlformats.org/drawingml/2006/main">
            <a:off x="619125" y="4476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E7F35A"/>
                </a:solidFill>
                <a:latin typeface="Calibri"/>
                <a:ea typeface="Calibri"/>
                <a:cs typeface="Calibri"/>
              </a:defRPr>
            </a:defPPr>
          </a:lstStyle>
          <a:p xmlns:a="http://schemas.openxmlformats.org/drawingml/2006/main">
            <a:pPr>
              <a:defRPr sz="3300" b="1">
                <a:solidFill>
                  <a:srgbClr val="E7F35A"/>
                </a:solidFill>
                <a:latin typeface="Calibri"/>
                <a:ea typeface="Calibri"/>
                <a:cs typeface="Calibri"/>
              </a:defRPr>
            </a:pPr>
            <a:r>
              <a:rPr sz="3300" b="1">
                <a:solidFill>
                  <a:srgbClr val="E7F35A"/>
                </a:solidFill>
                <a:latin typeface="Calibri"/>
                <a:ea typeface="Calibri"/>
                <a:cs typeface="Calibri"/>
              </a:rPr>
              <a:t>SUB-CHECK</a:t>
            </a:r>
          </a:p>
        </p:txBody>
      </p:sp>
      <p:sp>
        <p:nvSpPr>
          <p:cNvPr id="2" name="">
            <a:extLst xmlns:a="http://schemas.openxmlformats.org/drawingml/2006/main">
              <a:ext uri="{FF2B5EF4-FFF2-40B4-BE49-F238E27FC236}">
                <a16:creationId xmlns:a16="http://schemas.microsoft.com/office/drawing/2014/main" id="{C301BEF8-4509-4541-BFE4-A0DADAEF8AC8}"/>
              </a:ext>
            </a:extLst>
          </p:cNvPr>
          <p:cNvSpPr>
            <a:spLocks xmlns:a="http://schemas.openxmlformats.org/drawingml/2006/main" noGrp="1"/>
          </p:cNvSpPr>
          <p:nvPr/>
        </p:nvSpPr>
        <p:spPr>
          <a:xfrm xmlns:a="http://schemas.openxmlformats.org/drawingml/2006/main">
            <a:off x="619125" y="621030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EB6B4"/>
                </a:solidFill>
                <a:latin typeface="Calibri"/>
                <a:ea typeface="Calibri"/>
                <a:cs typeface="Calibri"/>
              </a:defRPr>
            </a:defPPr>
          </a:lstStyle>
          <a:p xmlns:a="http://schemas.openxmlformats.org/drawingml/2006/main">
            <a:pPr>
              <a:defRPr sz="1200" b="0">
                <a:solidFill>
                  <a:srgbClr val="AEB6B4"/>
                </a:solidFill>
                <a:latin typeface="Calibri"/>
                <a:ea typeface="Calibri"/>
                <a:cs typeface="Calibri"/>
              </a:defRPr>
            </a:pPr>
            <a:r>
              <a:rPr sz="1200" b="0">
                <a:solidFill>
                  <a:srgbClr val="AEB6B4"/>
                </a:solidFill>
                <a:latin typeface="Calibri"/>
                <a:ea typeface="Calibri"/>
                <a:cs typeface="Calibri"/>
              </a:rPr>
              <a:t>Technology Entrepreneurship. Assignment 3. 8 October 2026.</a:t>
            </a:r>
          </a:p>
        </p:txBody>
      </p:sp>
      <p:sp>
        <p:nvSpPr>
          <p:cNvPr id="3" name="">
            <a:extLst xmlns:a="http://schemas.openxmlformats.org/drawingml/2006/main">
              <a:ext uri="{FF2B5EF4-FFF2-40B4-BE49-F238E27FC236}">
                <a16:creationId xmlns:a16="http://schemas.microsoft.com/office/drawing/2014/main" id="{A3F611AD-93AC-4130-B72B-B3E5F51D3E79}"/>
              </a:ext>
            </a:extLst>
          </p:cNvPr>
          <p:cNvSpPr>
            <a:spLocks xmlns:a="http://schemas.openxmlformats.org/drawingml/2006/main" noGrp="1"/>
          </p:cNvSpPr>
          <p:nvPr/>
        </p:nvSpPr>
        <p:spPr>
          <a:xfrm xmlns:a="http://schemas.openxmlformats.org/drawingml/2006/main">
            <a:off x="666750" y="182880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F4F4ED"/>
                </a:solidFill>
                <a:latin typeface="Calibri"/>
                <a:ea typeface="Calibri"/>
                <a:cs typeface="Calibri"/>
              </a:defRPr>
            </a:defPPr>
          </a:lstStyle>
          <a:p xmlns:a="http://schemas.openxmlformats.org/drawingml/2006/main">
            <a:pPr>
              <a:defRPr sz="4050" b="1">
                <a:solidFill>
                  <a:srgbClr val="F4F4ED"/>
                </a:solidFill>
                <a:latin typeface="Calibri"/>
                <a:ea typeface="Calibri"/>
                <a:cs typeface="Calibri"/>
              </a:defRPr>
            </a:pPr>
            <a:r>
              <a:rPr sz="4050" b="1">
                <a:solidFill>
                  <a:srgbClr val="F4F4ED"/>
                </a:solidFill>
                <a:latin typeface="Calibri"/>
                <a:ea typeface="Calibri"/>
                <a:cs typeface="Calibri"/>
              </a:rPr>
              <a:t>Customer Development</a:t>
            </a:r>
          </a:p>
        </p:txBody>
      </p:sp>
      <p:sp>
        <p:nvSpPr>
          <p:cNvPr id="4" name="">
            <a:extLst xmlns:a="http://schemas.openxmlformats.org/drawingml/2006/main">
              <a:ext uri="{FF2B5EF4-FFF2-40B4-BE49-F238E27FC236}">
                <a16:creationId xmlns:a16="http://schemas.microsoft.com/office/drawing/2014/main" id="{4EBEC227-C6A5-45DF-939F-D1CE7E067FBA}"/>
              </a:ext>
            </a:extLst>
          </p:cNvPr>
          <p:cNvSpPr>
            <a:spLocks xmlns:a="http://schemas.openxmlformats.org/drawingml/2006/main" noGrp="1"/>
          </p:cNvSpPr>
          <p:nvPr/>
        </p:nvSpPr>
        <p:spPr>
          <a:xfrm xmlns:a="http://schemas.openxmlformats.org/drawingml/2006/main">
            <a:off x="666750" y="290512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0">
                <a:solidFill>
                  <a:srgbClr val="58DDCD"/>
                </a:solidFill>
                <a:latin typeface="Calibri"/>
                <a:ea typeface="Calibri"/>
                <a:cs typeface="Calibri"/>
              </a:defRPr>
            </a:defPPr>
          </a:lstStyle>
          <a:p xmlns:a="http://schemas.openxmlformats.org/drawingml/2006/main">
            <a:pPr>
              <a:defRPr sz="3000" b="0">
                <a:solidFill>
                  <a:srgbClr val="58DDCD"/>
                </a:solidFill>
                <a:latin typeface="Calibri"/>
                <a:ea typeface="Calibri"/>
                <a:cs typeface="Calibri"/>
              </a:defRPr>
            </a:pPr>
            <a:r>
              <a:rPr sz="3000" b="0">
                <a:solidFill>
                  <a:srgbClr val="58DDCD"/>
                </a:solidFill>
                <a:latin typeface="Calibri"/>
                <a:ea typeface="Calibri"/>
                <a:cs typeface="Calibri"/>
              </a:rPr>
              <a:t>Server-side aim analysis for studio moderators</a:t>
            </a:r>
          </a:p>
        </p:txBody>
      </p:sp>
      <p:sp>
        <p:nvSpPr>
          <p:cNvPr id="5" name="">
            <a:extLst xmlns:a="http://schemas.openxmlformats.org/drawingml/2006/main">
              <a:ext uri="{FF2B5EF4-FFF2-40B4-BE49-F238E27FC236}">
                <a16:creationId xmlns:a16="http://schemas.microsoft.com/office/drawing/2014/main" id="{69071F16-DF4D-4ED8-88FE-38C86EBA0126}"/>
              </a:ext>
            </a:extLst>
          </p:cNvPr>
          <p:cNvSpPr>
            <a:spLocks xmlns:a="http://schemas.openxmlformats.org/drawingml/2006/main" noGrp="1"/>
          </p:cNvSpPr>
          <p:nvPr/>
        </p:nvSpPr>
        <p:spPr>
          <a:xfrm xmlns:a="http://schemas.openxmlformats.org/drawingml/2006/main">
            <a:off x="666750" y="4524375"/>
            <a:ext cx="1028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4F4ED"/>
                </a:solidFill>
                <a:latin typeface="Calibri"/>
                <a:ea typeface="Calibri"/>
                <a:cs typeface="Calibri"/>
              </a:defRPr>
            </a:defPPr>
          </a:lstStyle>
          <a:p xmlns:a="http://schemas.openxmlformats.org/drawingml/2006/main">
            <a:pPr>
              <a:defRPr sz="2025" b="0">
                <a:solidFill>
                  <a:srgbClr val="F4F4ED"/>
                </a:solidFill>
                <a:latin typeface="Calibri"/>
                <a:ea typeface="Calibri"/>
                <a:cs typeface="Calibri"/>
              </a:defRPr>
            </a:pPr>
            <a:r>
              <a:rPr sz="2025" b="0">
                <a:solidFill>
                  <a:srgbClr val="F4F4ED"/>
                </a:solidFill>
                <a:latin typeface="Calibri"/>
                <a:ea typeface="Calibri"/>
                <a:cs typeface="Calibri"/>
              </a:rPr>
              <a:t>Nurzhan Bekmurat, Azamat Yermukhan, Yernur Khuan</a:t>
            </a:r>
          </a:p>
          <a:p xmlns:a="http://schemas.openxmlformats.org/drawingml/2006/main">
            <a:pPr>
              <a:defRPr sz="2025" b="0">
                <a:solidFill>
                  <a:srgbClr val="F4F4ED"/>
                </a:solidFill>
                <a:latin typeface="Calibri"/>
                <a:ea typeface="Calibri"/>
                <a:cs typeface="Calibri"/>
              </a:defRPr>
            </a:pPr>
            <a:r>
              <a:rPr sz="2025" b="0">
                <a:solidFill>
                  <a:srgbClr val="F4F4ED"/>
                </a:solidFill>
                <a:latin typeface="Calibri"/>
                <a:ea typeface="Calibri"/>
                <a:cs typeface="Calibri"/>
              </a:rPr>
              <a:t>Group CS-2406</a:t>
            </a:r>
          </a:p>
        </p:txBody>
      </p:sp>
    </p:spTree>
    <p:extLst>
      <p:ext uri="{BB962C8B-B14F-4D97-AF65-F5344CB8AC3E}">
        <p14:creationId xmlns:p14="http://schemas.microsoft.com/office/powerpoint/2010/main" val="1436069092"/>
      </p:ext>
    </p:extLst>
  </p:cSld>
</p:sld>
</file>

<file path=ppt/slides/slide2.xml><?xml version="1.0" encoding="utf-8"?>
<p:sld xmlns:p="http://schemas.openxmlformats.org/presentationml/2006/main">
  <p:cSld>
    <p:bg>
      <p:bgPr>
        <a:solidFill xmlns:a="http://schemas.openxmlformats.org/drawingml/2006/main">
          <a:srgbClr val="080B0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A4AC18-811C-487F-B0BB-F3C0CAF02C55}"/>
              </a:ext>
            </a:extLst>
          </p:cNvPr>
          <p:cNvSpPr>
            <a:spLocks xmlns:a="http://schemas.openxmlformats.org/drawingml/2006/main" noGrp="1"/>
          </p:cNvSpPr>
          <p:nvPr/>
        </p:nvSpPr>
        <p:spPr>
          <a:xfrm xmlns:a="http://schemas.openxmlformats.org/drawingml/2006/main">
            <a:off x="619125" y="4476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E7F35A"/>
                </a:solidFill>
                <a:latin typeface="Calibri"/>
                <a:ea typeface="Calibri"/>
                <a:cs typeface="Calibri"/>
              </a:defRPr>
            </a:defPPr>
          </a:lstStyle>
          <a:p xmlns:a="http://schemas.openxmlformats.org/drawingml/2006/main">
            <a:pPr>
              <a:defRPr sz="3300" b="1">
                <a:solidFill>
                  <a:srgbClr val="E7F35A"/>
                </a:solidFill>
                <a:latin typeface="Calibri"/>
                <a:ea typeface="Calibri"/>
                <a:cs typeface="Calibri"/>
              </a:defRPr>
            </a:pPr>
            <a:r>
              <a:rPr sz="3300" b="1">
                <a:solidFill>
                  <a:srgbClr val="E7F35A"/>
                </a:solidFill>
                <a:latin typeface="Calibri"/>
                <a:ea typeface="Calibri"/>
                <a:cs typeface="Calibri"/>
              </a:rPr>
              <a:t>Research material</a:t>
            </a:r>
          </a:p>
        </p:txBody>
      </p:sp>
      <p:sp>
        <p:nvSpPr>
          <p:cNvPr id="2" name="">
            <a:extLst xmlns:a="http://schemas.openxmlformats.org/drawingml/2006/main">
              <a:ext uri="{FF2B5EF4-FFF2-40B4-BE49-F238E27FC236}">
                <a16:creationId xmlns:a16="http://schemas.microsoft.com/office/drawing/2014/main" id="{A3AFC1EC-D6D8-4DE1-A9F9-4E32F930A44A}"/>
              </a:ext>
            </a:extLst>
          </p:cNvPr>
          <p:cNvSpPr>
            <a:spLocks xmlns:a="http://schemas.openxmlformats.org/drawingml/2006/main" noGrp="1"/>
          </p:cNvSpPr>
          <p:nvPr/>
        </p:nvSpPr>
        <p:spPr>
          <a:xfrm xmlns:a="http://schemas.openxmlformats.org/drawingml/2006/main">
            <a:off x="619125" y="621030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EB6B4"/>
                </a:solidFill>
                <a:latin typeface="Calibri"/>
                <a:ea typeface="Calibri"/>
                <a:cs typeface="Calibri"/>
              </a:defRPr>
            </a:defPPr>
          </a:lstStyle>
          <a:p xmlns:a="http://schemas.openxmlformats.org/drawingml/2006/main">
            <a:pPr>
              <a:defRPr sz="1200" b="0">
                <a:solidFill>
                  <a:srgbClr val="AEB6B4"/>
                </a:solidFill>
                <a:latin typeface="Calibri"/>
                <a:ea typeface="Calibri"/>
                <a:cs typeface="Calibri"/>
              </a:defRPr>
            </a:pPr>
            <a:r>
              <a:rPr sz="1200" b="0">
                <a:solidFill>
                  <a:srgbClr val="AEB6B4"/>
                </a:solidFill>
                <a:latin typeface="Calibri"/>
                <a:ea typeface="Calibri"/>
                <a:cs typeface="Calibri"/>
              </a:rPr>
              <a:t>Sources: 27 survey screenshots and three recordings. Course instructions.</a:t>
            </a:r>
          </a:p>
        </p:txBody>
      </p:sp>
      <p:sp>
        <p:nvSpPr>
          <p:cNvPr id="3" name="">
            <a:extLst xmlns:a="http://schemas.openxmlformats.org/drawingml/2006/main">
              <a:ext uri="{FF2B5EF4-FFF2-40B4-BE49-F238E27FC236}">
                <a16:creationId xmlns:a16="http://schemas.microsoft.com/office/drawing/2014/main" id="{DB191649-18C8-480A-8C33-BE92CDE52B70}"/>
              </a:ext>
            </a:extLst>
          </p:cNvPr>
          <p:cNvSpPr>
            <a:spLocks xmlns:a="http://schemas.openxmlformats.org/drawingml/2006/main" noGrp="1"/>
          </p:cNvSpPr>
          <p:nvPr/>
        </p:nvSpPr>
        <p:spPr>
          <a:xfrm xmlns:a="http://schemas.openxmlformats.org/drawingml/2006/main">
            <a:off x="666750" y="1581150"/>
            <a:ext cx="5238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E7F35A"/>
                </a:solidFill>
                <a:latin typeface="Calibri"/>
                <a:ea typeface="Calibri"/>
                <a:cs typeface="Calibri"/>
              </a:defRPr>
            </a:defPPr>
          </a:lstStyle>
          <a:p xmlns:a="http://schemas.openxmlformats.org/drawingml/2006/main">
            <a:pPr>
              <a:defRPr sz="6150" b="1">
                <a:solidFill>
                  <a:srgbClr val="E7F35A"/>
                </a:solidFill>
                <a:latin typeface="Calibri"/>
                <a:ea typeface="Calibri"/>
                <a:cs typeface="Calibri"/>
              </a:defRPr>
            </a:pPr>
            <a:r>
              <a:rPr sz="6150" b="1">
                <a:solidFill>
                  <a:srgbClr val="E7F35A"/>
                </a:solidFill>
                <a:latin typeface="Calibri"/>
                <a:ea typeface="Calibri"/>
                <a:cs typeface="Calibri"/>
              </a:rPr>
              <a:t>20</a:t>
            </a:r>
          </a:p>
        </p:txBody>
      </p:sp>
      <p:sp>
        <p:nvSpPr>
          <p:cNvPr id="4" name="">
            <a:extLst xmlns:a="http://schemas.openxmlformats.org/drawingml/2006/main">
              <a:ext uri="{FF2B5EF4-FFF2-40B4-BE49-F238E27FC236}">
                <a16:creationId xmlns:a16="http://schemas.microsoft.com/office/drawing/2014/main" id="{A3B65737-AB1A-425D-9B6B-1D02ED9562BC}"/>
              </a:ext>
            </a:extLst>
          </p:cNvPr>
          <p:cNvSpPr>
            <a:spLocks xmlns:a="http://schemas.openxmlformats.org/drawingml/2006/main" noGrp="1"/>
          </p:cNvSpPr>
          <p:nvPr/>
        </p:nvSpPr>
        <p:spPr>
          <a:xfrm xmlns:a="http://schemas.openxmlformats.org/drawingml/2006/main">
            <a:off x="666750" y="2638425"/>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4F4ED"/>
                </a:solidFill>
                <a:latin typeface="Calibri"/>
                <a:ea typeface="Calibri"/>
                <a:cs typeface="Calibri"/>
              </a:defRPr>
            </a:defPPr>
          </a:lstStyle>
          <a:p xmlns:a="http://schemas.openxmlformats.org/drawingml/2006/main">
            <a:pPr>
              <a:defRPr sz="2250" b="0">
                <a:solidFill>
                  <a:srgbClr val="F4F4ED"/>
                </a:solidFill>
                <a:latin typeface="Calibri"/>
                <a:ea typeface="Calibri"/>
                <a:cs typeface="Calibri"/>
              </a:defRPr>
            </a:pPr>
            <a:r>
              <a:rPr sz="2250" b="0">
                <a:solidFill>
                  <a:srgbClr val="F4F4ED"/>
                </a:solidFill>
                <a:latin typeface="Calibri"/>
                <a:ea typeface="Calibri"/>
                <a:cs typeface="Calibri"/>
              </a:rPr>
              <a:t>survey participants</a:t>
            </a:r>
          </a:p>
        </p:txBody>
      </p:sp>
      <p:sp>
        <p:nvSpPr>
          <p:cNvPr id="5" name="">
            <a:extLst xmlns:a="http://schemas.openxmlformats.org/drawingml/2006/main">
              <a:ext uri="{FF2B5EF4-FFF2-40B4-BE49-F238E27FC236}">
                <a16:creationId xmlns:a16="http://schemas.microsoft.com/office/drawing/2014/main" id="{9F623AFA-FD29-4832-A562-8722E2E08F26}"/>
              </a:ext>
            </a:extLst>
          </p:cNvPr>
          <p:cNvSpPr>
            <a:spLocks xmlns:a="http://schemas.openxmlformats.org/drawingml/2006/main" noGrp="1"/>
          </p:cNvSpPr>
          <p:nvPr/>
        </p:nvSpPr>
        <p:spPr>
          <a:xfrm xmlns:a="http://schemas.openxmlformats.org/drawingml/2006/main">
            <a:off x="6286500" y="1581150"/>
            <a:ext cx="5238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E7F35A"/>
                </a:solidFill>
                <a:latin typeface="Calibri"/>
                <a:ea typeface="Calibri"/>
                <a:cs typeface="Calibri"/>
              </a:defRPr>
            </a:defPPr>
          </a:lstStyle>
          <a:p xmlns:a="http://schemas.openxmlformats.org/drawingml/2006/main">
            <a:pPr>
              <a:defRPr sz="6150" b="1">
                <a:solidFill>
                  <a:srgbClr val="E7F35A"/>
                </a:solidFill>
                <a:latin typeface="Calibri"/>
                <a:ea typeface="Calibri"/>
                <a:cs typeface="Calibri"/>
              </a:defRPr>
            </a:pPr>
            <a:r>
              <a:rPr sz="6150" b="1">
                <a:solidFill>
                  <a:srgbClr val="E7F35A"/>
                </a:solidFill>
                <a:latin typeface="Calibri"/>
                <a:ea typeface="Calibri"/>
                <a:cs typeface="Calibri"/>
              </a:rPr>
              <a:t>3</a:t>
            </a:r>
          </a:p>
        </p:txBody>
      </p:sp>
      <p:sp>
        <p:nvSpPr>
          <p:cNvPr id="6" name="">
            <a:extLst xmlns:a="http://schemas.openxmlformats.org/drawingml/2006/main">
              <a:ext uri="{FF2B5EF4-FFF2-40B4-BE49-F238E27FC236}">
                <a16:creationId xmlns:a16="http://schemas.microsoft.com/office/drawing/2014/main" id="{D79F6499-6AD2-40D0-B11F-72783AFF6FCD}"/>
              </a:ext>
            </a:extLst>
          </p:cNvPr>
          <p:cNvSpPr>
            <a:spLocks xmlns:a="http://schemas.openxmlformats.org/drawingml/2006/main" noGrp="1"/>
          </p:cNvSpPr>
          <p:nvPr/>
        </p:nvSpPr>
        <p:spPr>
          <a:xfrm xmlns:a="http://schemas.openxmlformats.org/drawingml/2006/main">
            <a:off x="6286500" y="2638425"/>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4F4ED"/>
                </a:solidFill>
                <a:latin typeface="Calibri"/>
                <a:ea typeface="Calibri"/>
                <a:cs typeface="Calibri"/>
              </a:defRPr>
            </a:defPPr>
          </a:lstStyle>
          <a:p xmlns:a="http://schemas.openxmlformats.org/drawingml/2006/main">
            <a:pPr>
              <a:defRPr sz="2250" b="0">
                <a:solidFill>
                  <a:srgbClr val="F4F4ED"/>
                </a:solidFill>
                <a:latin typeface="Calibri"/>
                <a:ea typeface="Calibri"/>
                <a:cs typeface="Calibri"/>
              </a:defRPr>
            </a:pPr>
            <a:r>
              <a:rPr sz="2250" b="0">
                <a:solidFill>
                  <a:srgbClr val="F4F4ED"/>
                </a:solidFill>
                <a:latin typeface="Calibri"/>
                <a:ea typeface="Calibri"/>
                <a:cs typeface="Calibri"/>
              </a:rPr>
              <a:t>recorded interviews</a:t>
            </a:r>
          </a:p>
        </p:txBody>
      </p:sp>
      <p:sp>
        <p:nvSpPr>
          <p:cNvPr id="7" name="">
            <a:extLst xmlns:a="http://schemas.openxmlformats.org/drawingml/2006/main">
              <a:ext uri="{FF2B5EF4-FFF2-40B4-BE49-F238E27FC236}">
                <a16:creationId xmlns:a16="http://schemas.microsoft.com/office/drawing/2014/main" id="{9941696E-8506-4C8C-B1FB-9C00EF107B72}"/>
              </a:ext>
            </a:extLst>
          </p:cNvPr>
          <p:cNvSpPr>
            <a:spLocks xmlns:a="http://schemas.openxmlformats.org/drawingml/2006/main" noGrp="1"/>
          </p:cNvSpPr>
          <p:nvPr/>
        </p:nvSpPr>
        <p:spPr>
          <a:xfrm xmlns:a="http://schemas.openxmlformats.org/drawingml/2006/main">
            <a:off x="666750" y="34956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4F4ED"/>
                </a:solidFill>
                <a:latin typeface="Calibri"/>
                <a:ea typeface="Calibri"/>
                <a:cs typeface="Calibri"/>
              </a:defRPr>
            </a:defPPr>
          </a:lstStyle>
          <a:p xmlns:a="http://schemas.openxmlformats.org/drawingml/2006/main">
            <a:pPr>
              <a:defRPr sz="2025" b="0">
                <a:solidFill>
                  <a:srgbClr val="F4F4ED"/>
                </a:solidFill>
                <a:latin typeface="Calibri"/>
                <a:ea typeface="Calibri"/>
                <a:cs typeface="Calibri"/>
              </a:defRPr>
            </a:pPr>
            <a:r>
              <a:rPr sz="2025" b="0">
                <a:solidFill>
                  <a:srgbClr val="F4F4ED"/>
                </a:solidFill>
                <a:latin typeface="Calibri"/>
                <a:ea typeface="Calibri"/>
                <a:cs typeface="Calibri"/>
              </a:rPr>
              <a:t>Answers per question: 20, 19 or 9</a:t>
            </a:r>
          </a:p>
        </p:txBody>
      </p:sp>
      <p:sp>
        <p:nvSpPr>
          <p:cNvPr id="8" name="">
            <a:extLst xmlns:a="http://schemas.openxmlformats.org/drawingml/2006/main">
              <a:ext uri="{FF2B5EF4-FFF2-40B4-BE49-F238E27FC236}">
                <a16:creationId xmlns:a16="http://schemas.microsoft.com/office/drawing/2014/main" id="{7C7AF7FC-1BA5-48A0-A72D-96EF76146CEF}"/>
              </a:ext>
            </a:extLst>
          </p:cNvPr>
          <p:cNvSpPr>
            <a:spLocks xmlns:a="http://schemas.openxmlformats.org/drawingml/2006/main" noGrp="1"/>
          </p:cNvSpPr>
          <p:nvPr/>
        </p:nvSpPr>
        <p:spPr>
          <a:xfrm xmlns:a="http://schemas.openxmlformats.org/drawingml/2006/main">
            <a:off x="666750" y="4086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4F4ED"/>
                </a:solidFill>
                <a:latin typeface="Calibri"/>
                <a:ea typeface="Calibri"/>
                <a:cs typeface="Calibri"/>
              </a:defRPr>
            </a:defPPr>
          </a:lstStyle>
          <a:p xmlns:a="http://schemas.openxmlformats.org/drawingml/2006/main">
            <a:pPr>
              <a:defRPr sz="2025" b="0">
                <a:solidFill>
                  <a:srgbClr val="F4F4ED"/>
                </a:solidFill>
                <a:latin typeface="Calibri"/>
                <a:ea typeface="Calibri"/>
                <a:cs typeface="Calibri"/>
              </a:defRPr>
            </a:pPr>
            <a:r>
              <a:rPr sz="2025" b="0">
                <a:solidFill>
                  <a:srgbClr val="F4F4ED"/>
                </a:solidFill>
                <a:latin typeface="Calibri"/>
                <a:ea typeface="Calibri"/>
                <a:cs typeface="Calibri"/>
              </a:rPr>
              <a:t>We have summary charts, not individual answers</a:t>
            </a:r>
          </a:p>
        </p:txBody>
      </p:sp>
      <p:sp>
        <p:nvSpPr>
          <p:cNvPr id="9" name="">
            <a:extLst xmlns:a="http://schemas.openxmlformats.org/drawingml/2006/main">
              <a:ext uri="{FF2B5EF4-FFF2-40B4-BE49-F238E27FC236}">
                <a16:creationId xmlns:a16="http://schemas.microsoft.com/office/drawing/2014/main" id="{3D811959-59BD-4F8C-AD70-F7A9F0927728}"/>
              </a:ext>
            </a:extLst>
          </p:cNvPr>
          <p:cNvSpPr>
            <a:spLocks xmlns:a="http://schemas.openxmlformats.org/drawingml/2006/main" noGrp="1"/>
          </p:cNvSpPr>
          <p:nvPr/>
        </p:nvSpPr>
        <p:spPr>
          <a:xfrm xmlns:a="http://schemas.openxmlformats.org/drawingml/2006/main">
            <a:off x="666750" y="46767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4F4ED"/>
                </a:solidFill>
                <a:latin typeface="Calibri"/>
                <a:ea typeface="Calibri"/>
                <a:cs typeface="Calibri"/>
              </a:defRPr>
            </a:defPPr>
          </a:lstStyle>
          <a:p xmlns:a="http://schemas.openxmlformats.org/drawingml/2006/main">
            <a:pPr>
              <a:defRPr sz="2025" b="0">
                <a:solidFill>
                  <a:srgbClr val="F4F4ED"/>
                </a:solidFill>
                <a:latin typeface="Calibri"/>
                <a:ea typeface="Calibri"/>
                <a:cs typeface="Calibri"/>
              </a:defRPr>
            </a:pPr>
            <a:r>
              <a:rPr sz="2025" b="0">
                <a:solidFill>
                  <a:srgbClr val="F4F4ED"/>
                </a:solidFill>
                <a:latin typeface="Calibri"/>
                <a:ea typeface="Calibri"/>
                <a:cs typeface="Calibri"/>
              </a:rPr>
              <a:t>Interview and survey participants may overlap</a:t>
            </a:r>
          </a:p>
        </p:txBody>
      </p:sp>
      <p:sp>
        <p:nvSpPr>
          <p:cNvPr id="10" name="">
            <a:extLst xmlns:a="http://schemas.openxmlformats.org/drawingml/2006/main">
              <a:ext uri="{FF2B5EF4-FFF2-40B4-BE49-F238E27FC236}">
                <a16:creationId xmlns:a16="http://schemas.microsoft.com/office/drawing/2014/main" id="{97133E48-634F-4BD3-AD8C-3DD2338D472D}"/>
              </a:ext>
            </a:extLst>
          </p:cNvPr>
          <p:cNvSpPr>
            <a:spLocks xmlns:a="http://schemas.openxmlformats.org/drawingml/2006/main" noGrp="1"/>
          </p:cNvSpPr>
          <p:nvPr/>
        </p:nvSpPr>
        <p:spPr>
          <a:xfrm xmlns:a="http://schemas.openxmlformats.org/drawingml/2006/main">
            <a:off x="666750" y="52673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4F4ED"/>
                </a:solidFill>
                <a:latin typeface="Calibri"/>
                <a:ea typeface="Calibri"/>
                <a:cs typeface="Calibri"/>
              </a:defRPr>
            </a:defPPr>
          </a:lstStyle>
          <a:p xmlns:a="http://schemas.openxmlformats.org/drawingml/2006/main">
            <a:pPr>
              <a:defRPr sz="2025" b="0">
                <a:solidFill>
                  <a:srgbClr val="F4F4ED"/>
                </a:solidFill>
                <a:latin typeface="Calibri"/>
                <a:ea typeface="Calibri"/>
                <a:cs typeface="Calibri"/>
              </a:defRPr>
            </a:pPr>
            <a:r>
              <a:rPr sz="2025" b="0">
                <a:solidFill>
                  <a:srgbClr val="F4F4ED"/>
                </a:solidFill>
                <a:latin typeface="Calibri"/>
                <a:ea typeface="Calibri"/>
                <a:cs typeface="Calibri"/>
              </a:rPr>
              <a:t>Course minimum: 30 online participants or 5 face-to-face videos</a:t>
            </a:r>
          </a:p>
        </p:txBody>
      </p:sp>
    </p:spTree>
    <p:extLst>
      <p:ext uri="{BB962C8B-B14F-4D97-AF65-F5344CB8AC3E}">
        <p14:creationId xmlns:p14="http://schemas.microsoft.com/office/powerpoint/2010/main" val="1367160795"/>
      </p:ext>
    </p:extLst>
  </p:cSld>
</p:sld>
</file>

<file path=ppt/slides/slide3.xml><?xml version="1.0" encoding="utf-8"?>
<p:sld xmlns:p="http://schemas.openxmlformats.org/presentationml/2006/main">
  <p:cSld>
    <p:bg>
      <p:bgPr>
        <a:solidFill xmlns:a="http://schemas.openxmlformats.org/drawingml/2006/main">
          <a:srgbClr val="080B0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B711777-9E01-477E-B047-34681164CE8A}"/>
              </a:ext>
            </a:extLst>
          </p:cNvPr>
          <p:cNvSpPr>
            <a:spLocks xmlns:a="http://schemas.openxmlformats.org/drawingml/2006/main" noGrp="1"/>
          </p:cNvSpPr>
          <p:nvPr/>
        </p:nvSpPr>
        <p:spPr>
          <a:xfrm xmlns:a="http://schemas.openxmlformats.org/drawingml/2006/main">
            <a:off x="619125" y="4476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E7F35A"/>
                </a:solidFill>
                <a:latin typeface="Calibri"/>
                <a:ea typeface="Calibri"/>
                <a:cs typeface="Calibri"/>
              </a:defRPr>
            </a:defPPr>
          </a:lstStyle>
          <a:p xmlns:a="http://schemas.openxmlformats.org/drawingml/2006/main">
            <a:pPr>
              <a:defRPr sz="3300" b="1">
                <a:solidFill>
                  <a:srgbClr val="E7F35A"/>
                </a:solidFill>
                <a:latin typeface="Calibri"/>
                <a:ea typeface="Calibri"/>
                <a:cs typeface="Calibri"/>
              </a:defRPr>
            </a:pPr>
            <a:r>
              <a:rPr sz="3300" b="1">
                <a:solidFill>
                  <a:srgbClr val="E7F35A"/>
                </a:solidFill>
                <a:latin typeface="Calibri"/>
                <a:ea typeface="Calibri"/>
                <a:cs typeface="Calibri"/>
              </a:rPr>
              <a:t>Customer roles</a:t>
            </a:r>
          </a:p>
        </p:txBody>
      </p:sp>
      <p:sp>
        <p:nvSpPr>
          <p:cNvPr id="2" name="">
            <a:extLst xmlns:a="http://schemas.openxmlformats.org/drawingml/2006/main">
              <a:ext uri="{FF2B5EF4-FFF2-40B4-BE49-F238E27FC236}">
                <a16:creationId xmlns:a16="http://schemas.microsoft.com/office/drawing/2014/main" id="{AF2B178F-0291-481A-A83B-91B191F22D9D}"/>
              </a:ext>
            </a:extLst>
          </p:cNvPr>
          <p:cNvSpPr>
            <a:spLocks xmlns:a="http://schemas.openxmlformats.org/drawingml/2006/main" noGrp="1"/>
          </p:cNvSpPr>
          <p:nvPr/>
        </p:nvSpPr>
        <p:spPr>
          <a:xfrm xmlns:a="http://schemas.openxmlformats.org/drawingml/2006/main">
            <a:off x="619125" y="621030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EB6B4"/>
                </a:solidFill>
                <a:latin typeface="Calibri"/>
                <a:ea typeface="Calibri"/>
                <a:cs typeface="Calibri"/>
              </a:defRPr>
            </a:defPPr>
          </a:lstStyle>
          <a:p xmlns:a="http://schemas.openxmlformats.org/drawingml/2006/main">
            <a:pPr>
              <a:defRPr sz="1200" b="0">
                <a:solidFill>
                  <a:srgbClr val="AEB6B4"/>
                </a:solidFill>
                <a:latin typeface="Calibri"/>
                <a:ea typeface="Calibri"/>
                <a:cs typeface="Calibri"/>
              </a:defRPr>
            </a:pPr>
            <a:r>
              <a:rPr sz="1200" b="0">
                <a:solidFill>
                  <a:srgbClr val="AEB6B4"/>
                </a:solidFill>
                <a:latin typeface="Calibri"/>
                <a:ea typeface="Calibri"/>
                <a:cs typeface="Calibri"/>
              </a:rPr>
              <a:t>Sources: Assignment 2, Q01 and Q03. Future recruitment is our plan.</a:t>
            </a:r>
          </a:p>
        </p:txBody>
      </p:sp>
      <p:sp>
        <p:nvSpPr>
          <p:cNvPr id="3" name="">
            <a:extLst xmlns:a="http://schemas.openxmlformats.org/drawingml/2006/main">
              <a:ext uri="{FF2B5EF4-FFF2-40B4-BE49-F238E27FC236}">
                <a16:creationId xmlns:a16="http://schemas.microsoft.com/office/drawing/2014/main" id="{253490DD-2601-44F3-9C6F-8270ED051F00}"/>
              </a:ext>
            </a:extLst>
          </p:cNvPr>
          <p:cNvSpPr>
            <a:spLocks xmlns:a="http://schemas.openxmlformats.org/drawingml/2006/main" noGrp="1"/>
          </p:cNvSpPr>
          <p:nvPr/>
        </p:nvSpPr>
        <p:spPr>
          <a:xfrm xmlns:a="http://schemas.openxmlformats.org/drawingml/2006/main">
            <a:off x="666750" y="170497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8DDCD"/>
                </a:solidFill>
                <a:latin typeface="Calibri"/>
                <a:ea typeface="Calibri"/>
                <a:cs typeface="Calibri"/>
              </a:defRPr>
            </a:defPPr>
          </a:lstStyle>
          <a:p xmlns:a="http://schemas.openxmlformats.org/drawingml/2006/main">
            <a:pPr>
              <a:defRPr sz="1725" b="0">
                <a:solidFill>
                  <a:srgbClr val="58DDCD"/>
                </a:solidFill>
                <a:latin typeface="Calibri"/>
                <a:ea typeface="Calibri"/>
                <a:cs typeface="Calibri"/>
              </a:defRPr>
            </a:pPr>
            <a:r>
              <a:rPr sz="1725" b="0">
                <a:solidFill>
                  <a:srgbClr val="58DDCD"/>
                </a:solidFill>
                <a:latin typeface="Calibri"/>
                <a:ea typeface="Calibri"/>
                <a:cs typeface="Calibri"/>
              </a:rPr>
              <a:t>Buyer</a:t>
            </a:r>
          </a:p>
        </p:txBody>
      </p:sp>
      <p:sp>
        <p:nvSpPr>
          <p:cNvPr id="4" name="">
            <a:extLst xmlns:a="http://schemas.openxmlformats.org/drawingml/2006/main">
              <a:ext uri="{FF2B5EF4-FFF2-40B4-BE49-F238E27FC236}">
                <a16:creationId xmlns:a16="http://schemas.microsoft.com/office/drawing/2014/main" id="{5C07F580-30BE-4C79-B912-7738550634A7}"/>
              </a:ext>
            </a:extLst>
          </p:cNvPr>
          <p:cNvSpPr>
            <a:spLocks xmlns:a="http://schemas.openxmlformats.org/drawingml/2006/main" noGrp="1"/>
          </p:cNvSpPr>
          <p:nvPr/>
        </p:nvSpPr>
        <p:spPr>
          <a:xfrm xmlns:a="http://schemas.openxmlformats.org/drawingml/2006/main">
            <a:off x="666750" y="2295525"/>
            <a:ext cx="342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4F4ED"/>
                </a:solidFill>
                <a:latin typeface="Calibri"/>
                <a:ea typeface="Calibri"/>
                <a:cs typeface="Calibri"/>
              </a:defRPr>
            </a:defPPr>
          </a:lstStyle>
          <a:p xmlns:a="http://schemas.openxmlformats.org/drawingml/2006/main">
            <a:pPr>
              <a:defRPr sz="2625" b="1">
                <a:solidFill>
                  <a:srgbClr val="F4F4ED"/>
                </a:solidFill>
                <a:latin typeface="Calibri"/>
                <a:ea typeface="Calibri"/>
                <a:cs typeface="Calibri"/>
              </a:defRPr>
            </a:pPr>
            <a:r>
              <a:rPr sz="2625" b="1">
                <a:solidFill>
                  <a:srgbClr val="F4F4ED"/>
                </a:solidFill>
                <a:latin typeface="Calibri"/>
                <a:ea typeface="Calibri"/>
                <a:cs typeface="Calibri"/>
              </a:rPr>
              <a:t>Studio lead</a:t>
            </a:r>
          </a:p>
        </p:txBody>
      </p:sp>
      <p:sp>
        <p:nvSpPr>
          <p:cNvPr id="5" name="">
            <a:extLst xmlns:a="http://schemas.openxmlformats.org/drawingml/2006/main">
              <a:ext uri="{FF2B5EF4-FFF2-40B4-BE49-F238E27FC236}">
                <a16:creationId xmlns:a16="http://schemas.microsoft.com/office/drawing/2014/main" id="{20F90D39-23B2-408A-A294-00A54692DBB1}"/>
              </a:ext>
            </a:extLst>
          </p:cNvPr>
          <p:cNvSpPr>
            <a:spLocks xmlns:a="http://schemas.openxmlformats.org/drawingml/2006/main" noGrp="1"/>
          </p:cNvSpPr>
          <p:nvPr/>
        </p:nvSpPr>
        <p:spPr>
          <a:xfrm xmlns:a="http://schemas.openxmlformats.org/drawingml/2006/main">
            <a:off x="666750" y="3257550"/>
            <a:ext cx="342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4F4ED"/>
                </a:solidFill>
                <a:latin typeface="Calibri"/>
                <a:ea typeface="Calibri"/>
                <a:cs typeface="Calibri"/>
              </a:defRPr>
            </a:defPPr>
          </a:lstStyle>
          <a:p xmlns:a="http://schemas.openxmlformats.org/drawingml/2006/main">
            <a:pPr>
              <a:defRPr sz="2250" b="0">
                <a:solidFill>
                  <a:srgbClr val="F4F4ED"/>
                </a:solidFill>
                <a:latin typeface="Calibri"/>
                <a:ea typeface="Calibri"/>
                <a:cs typeface="Calibri"/>
              </a:defRPr>
            </a:pPr>
            <a:r>
              <a:rPr sz="2250" b="0">
                <a:solidFill>
                  <a:srgbClr val="F4F4ED"/>
                </a:solidFill>
                <a:latin typeface="Calibri"/>
                <a:ea typeface="Calibri"/>
                <a:cs typeface="Calibri"/>
              </a:rPr>
              <a:t>Controls the budget and integration decision</a:t>
            </a:r>
          </a:p>
        </p:txBody>
      </p:sp>
      <p:sp>
        <p:nvSpPr>
          <p:cNvPr id="6" name="">
            <a:extLst xmlns:a="http://schemas.openxmlformats.org/drawingml/2006/main">
              <a:ext uri="{FF2B5EF4-FFF2-40B4-BE49-F238E27FC236}">
                <a16:creationId xmlns:a16="http://schemas.microsoft.com/office/drawing/2014/main" id="{F0A3C01F-3916-4DC8-9188-AC9D27FCFB31}"/>
              </a:ext>
            </a:extLst>
          </p:cNvPr>
          <p:cNvSpPr>
            <a:spLocks xmlns:a="http://schemas.openxmlformats.org/drawingml/2006/main" noGrp="1"/>
          </p:cNvSpPr>
          <p:nvPr/>
        </p:nvSpPr>
        <p:spPr>
          <a:xfrm xmlns:a="http://schemas.openxmlformats.org/drawingml/2006/main">
            <a:off x="4410075" y="170497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8DDCD"/>
                </a:solidFill>
                <a:latin typeface="Calibri"/>
                <a:ea typeface="Calibri"/>
                <a:cs typeface="Calibri"/>
              </a:defRPr>
            </a:defPPr>
          </a:lstStyle>
          <a:p xmlns:a="http://schemas.openxmlformats.org/drawingml/2006/main">
            <a:pPr>
              <a:defRPr sz="1725" b="0">
                <a:solidFill>
                  <a:srgbClr val="58DDCD"/>
                </a:solidFill>
                <a:latin typeface="Calibri"/>
                <a:ea typeface="Calibri"/>
                <a:cs typeface="Calibri"/>
              </a:defRPr>
            </a:pPr>
            <a:r>
              <a:rPr sz="1725" b="0">
                <a:solidFill>
                  <a:srgbClr val="58DDCD"/>
                </a:solidFill>
                <a:latin typeface="Calibri"/>
                <a:ea typeface="Calibri"/>
                <a:cs typeface="Calibri"/>
              </a:rPr>
              <a:t>User</a:t>
            </a:r>
          </a:p>
        </p:txBody>
      </p:sp>
      <p:sp>
        <p:nvSpPr>
          <p:cNvPr id="7" name="">
            <a:extLst xmlns:a="http://schemas.openxmlformats.org/drawingml/2006/main">
              <a:ext uri="{FF2B5EF4-FFF2-40B4-BE49-F238E27FC236}">
                <a16:creationId xmlns:a16="http://schemas.microsoft.com/office/drawing/2014/main" id="{17020455-8368-4328-85B3-30BFB4EFECA1}"/>
              </a:ext>
            </a:extLst>
          </p:cNvPr>
          <p:cNvSpPr>
            <a:spLocks xmlns:a="http://schemas.openxmlformats.org/drawingml/2006/main" noGrp="1"/>
          </p:cNvSpPr>
          <p:nvPr/>
        </p:nvSpPr>
        <p:spPr>
          <a:xfrm xmlns:a="http://schemas.openxmlformats.org/drawingml/2006/main">
            <a:off x="4410075" y="2295525"/>
            <a:ext cx="342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4F4ED"/>
                </a:solidFill>
                <a:latin typeface="Calibri"/>
                <a:ea typeface="Calibri"/>
                <a:cs typeface="Calibri"/>
              </a:defRPr>
            </a:defPPr>
          </a:lstStyle>
          <a:p xmlns:a="http://schemas.openxmlformats.org/drawingml/2006/main">
            <a:pPr>
              <a:defRPr sz="2625" b="1">
                <a:solidFill>
                  <a:srgbClr val="F4F4ED"/>
                </a:solidFill>
                <a:latin typeface="Calibri"/>
                <a:ea typeface="Calibri"/>
                <a:cs typeface="Calibri"/>
              </a:defRPr>
            </a:pPr>
            <a:r>
              <a:rPr sz="2625" b="1">
                <a:solidFill>
                  <a:srgbClr val="F4F4ED"/>
                </a:solidFill>
                <a:latin typeface="Calibri"/>
                <a:ea typeface="Calibri"/>
                <a:cs typeface="Calibri"/>
              </a:rPr>
              <a:t>Moderator</a:t>
            </a:r>
          </a:p>
        </p:txBody>
      </p:sp>
      <p:sp>
        <p:nvSpPr>
          <p:cNvPr id="8" name="">
            <a:extLst xmlns:a="http://schemas.openxmlformats.org/drawingml/2006/main">
              <a:ext uri="{FF2B5EF4-FFF2-40B4-BE49-F238E27FC236}">
                <a16:creationId xmlns:a16="http://schemas.microsoft.com/office/drawing/2014/main" id="{6C908FC1-D2CC-4815-BAEE-0E8766DBB67F}"/>
              </a:ext>
            </a:extLst>
          </p:cNvPr>
          <p:cNvSpPr>
            <a:spLocks xmlns:a="http://schemas.openxmlformats.org/drawingml/2006/main" noGrp="1"/>
          </p:cNvSpPr>
          <p:nvPr/>
        </p:nvSpPr>
        <p:spPr>
          <a:xfrm xmlns:a="http://schemas.openxmlformats.org/drawingml/2006/main">
            <a:off x="4410075" y="3257550"/>
            <a:ext cx="342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4F4ED"/>
                </a:solidFill>
                <a:latin typeface="Calibri"/>
                <a:ea typeface="Calibri"/>
                <a:cs typeface="Calibri"/>
              </a:defRPr>
            </a:defPPr>
          </a:lstStyle>
          <a:p xmlns:a="http://schemas.openxmlformats.org/drawingml/2006/main">
            <a:pPr>
              <a:defRPr sz="2250" b="0">
                <a:solidFill>
                  <a:srgbClr val="F4F4ED"/>
                </a:solidFill>
                <a:latin typeface="Calibri"/>
                <a:ea typeface="Calibri"/>
                <a:cs typeface="Calibri"/>
              </a:defRPr>
            </a:pPr>
            <a:r>
              <a:rPr sz="2250" b="0">
                <a:solidFill>
                  <a:srgbClr val="F4F4ED"/>
                </a:solidFill>
                <a:latin typeface="Calibri"/>
                <a:ea typeface="Calibri"/>
                <a:cs typeface="Calibri"/>
              </a:rPr>
              <a:t>Reviews suspicious matches and appeals</a:t>
            </a:r>
          </a:p>
        </p:txBody>
      </p:sp>
      <p:sp>
        <p:nvSpPr>
          <p:cNvPr id="9" name="">
            <a:extLst xmlns:a="http://schemas.openxmlformats.org/drawingml/2006/main">
              <a:ext uri="{FF2B5EF4-FFF2-40B4-BE49-F238E27FC236}">
                <a16:creationId xmlns:a16="http://schemas.microsoft.com/office/drawing/2014/main" id="{51B3B17B-2989-41B2-A05A-B825452A0F7F}"/>
              </a:ext>
            </a:extLst>
          </p:cNvPr>
          <p:cNvSpPr>
            <a:spLocks xmlns:a="http://schemas.openxmlformats.org/drawingml/2006/main" noGrp="1"/>
          </p:cNvSpPr>
          <p:nvPr/>
        </p:nvSpPr>
        <p:spPr>
          <a:xfrm xmlns:a="http://schemas.openxmlformats.org/drawingml/2006/main">
            <a:off x="8153400" y="170497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8DDCD"/>
                </a:solidFill>
                <a:latin typeface="Calibri"/>
                <a:ea typeface="Calibri"/>
                <a:cs typeface="Calibri"/>
              </a:defRPr>
            </a:defPPr>
          </a:lstStyle>
          <a:p xmlns:a="http://schemas.openxmlformats.org/drawingml/2006/main">
            <a:pPr>
              <a:defRPr sz="1725" b="0">
                <a:solidFill>
                  <a:srgbClr val="58DDCD"/>
                </a:solidFill>
                <a:latin typeface="Calibri"/>
                <a:ea typeface="Calibri"/>
                <a:cs typeface="Calibri"/>
              </a:defRPr>
            </a:pPr>
            <a:r>
              <a:rPr sz="1725" b="0">
                <a:solidFill>
                  <a:srgbClr val="58DDCD"/>
                </a:solidFill>
                <a:latin typeface="Calibri"/>
                <a:ea typeface="Calibri"/>
                <a:cs typeface="Calibri"/>
              </a:rPr>
              <a:t>Player</a:t>
            </a:r>
          </a:p>
        </p:txBody>
      </p:sp>
      <p:sp>
        <p:nvSpPr>
          <p:cNvPr id="10" name="">
            <a:extLst xmlns:a="http://schemas.openxmlformats.org/drawingml/2006/main">
              <a:ext uri="{FF2B5EF4-FFF2-40B4-BE49-F238E27FC236}">
                <a16:creationId xmlns:a16="http://schemas.microsoft.com/office/drawing/2014/main" id="{46ED8A1F-3C3B-41F1-BD48-B7F2B80E7393}"/>
              </a:ext>
            </a:extLst>
          </p:cNvPr>
          <p:cNvSpPr>
            <a:spLocks xmlns:a="http://schemas.openxmlformats.org/drawingml/2006/main" noGrp="1"/>
          </p:cNvSpPr>
          <p:nvPr/>
        </p:nvSpPr>
        <p:spPr>
          <a:xfrm xmlns:a="http://schemas.openxmlformats.org/drawingml/2006/main">
            <a:off x="8153400" y="2295525"/>
            <a:ext cx="342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4F4ED"/>
                </a:solidFill>
                <a:latin typeface="Calibri"/>
                <a:ea typeface="Calibri"/>
                <a:cs typeface="Calibri"/>
              </a:defRPr>
            </a:defPPr>
          </a:lstStyle>
          <a:p xmlns:a="http://schemas.openxmlformats.org/drawingml/2006/main">
            <a:pPr>
              <a:defRPr sz="2625" b="1">
                <a:solidFill>
                  <a:srgbClr val="F4F4ED"/>
                </a:solidFill>
                <a:latin typeface="Calibri"/>
                <a:ea typeface="Calibri"/>
                <a:cs typeface="Calibri"/>
              </a:defRPr>
            </a:pPr>
            <a:r>
              <a:rPr sz="2625" b="1">
                <a:solidFill>
                  <a:srgbClr val="F4F4ED"/>
                </a:solidFill>
                <a:latin typeface="Calibri"/>
                <a:ea typeface="Calibri"/>
                <a:cs typeface="Calibri"/>
              </a:rPr>
              <a:t>Competitive player</a:t>
            </a:r>
          </a:p>
        </p:txBody>
      </p:sp>
      <p:sp>
        <p:nvSpPr>
          <p:cNvPr id="11" name="">
            <a:extLst xmlns:a="http://schemas.openxmlformats.org/drawingml/2006/main">
              <a:ext uri="{FF2B5EF4-FFF2-40B4-BE49-F238E27FC236}">
                <a16:creationId xmlns:a16="http://schemas.microsoft.com/office/drawing/2014/main" id="{3440CDEE-EA8C-4B84-BF00-7A5F11350F19}"/>
              </a:ext>
            </a:extLst>
          </p:cNvPr>
          <p:cNvSpPr>
            <a:spLocks xmlns:a="http://schemas.openxmlformats.org/drawingml/2006/main" noGrp="1"/>
          </p:cNvSpPr>
          <p:nvPr/>
        </p:nvSpPr>
        <p:spPr>
          <a:xfrm xmlns:a="http://schemas.openxmlformats.org/drawingml/2006/main">
            <a:off x="8153400" y="3257550"/>
            <a:ext cx="342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4F4ED"/>
                </a:solidFill>
                <a:latin typeface="Calibri"/>
                <a:ea typeface="Calibri"/>
                <a:cs typeface="Calibri"/>
              </a:defRPr>
            </a:defPPr>
          </a:lstStyle>
          <a:p xmlns:a="http://schemas.openxmlformats.org/drawingml/2006/main">
            <a:pPr>
              <a:defRPr sz="2250" b="0">
                <a:solidFill>
                  <a:srgbClr val="F4F4ED"/>
                </a:solidFill>
                <a:latin typeface="Calibri"/>
                <a:ea typeface="Calibri"/>
                <a:cs typeface="Calibri"/>
              </a:defRPr>
            </a:pPr>
            <a:r>
              <a:rPr sz="2250" b="0">
                <a:solidFill>
                  <a:srgbClr val="F4F4ED"/>
                </a:solidFill>
                <a:latin typeface="Calibri"/>
                <a:ea typeface="Calibri"/>
                <a:cs typeface="Calibri"/>
              </a:rPr>
              <a:t>Needs fair matches and fair decisions</a:t>
            </a:r>
          </a:p>
        </p:txBody>
      </p:sp>
      <p:sp>
        <p:nvSpPr>
          <p:cNvPr id="12" name="">
            <a:extLst xmlns:a="http://schemas.openxmlformats.org/drawingml/2006/main">
              <a:ext uri="{FF2B5EF4-FFF2-40B4-BE49-F238E27FC236}">
                <a16:creationId xmlns:a16="http://schemas.microsoft.com/office/drawing/2014/main" id="{87473399-FB65-4B27-93F7-D968044C61D9}"/>
              </a:ext>
            </a:extLst>
          </p:cNvPr>
          <p:cNvSpPr>
            <a:spLocks xmlns:a="http://schemas.openxmlformats.org/drawingml/2006/main" noGrp="1"/>
          </p:cNvSpPr>
          <p:nvPr/>
        </p:nvSpPr>
        <p:spPr>
          <a:xfrm xmlns:a="http://schemas.openxmlformats.org/drawingml/2006/main">
            <a:off x="666750" y="5010150"/>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4F4ED"/>
                </a:solidFill>
                <a:latin typeface="Calibri"/>
                <a:ea typeface="Calibri"/>
                <a:cs typeface="Calibri"/>
              </a:defRPr>
            </a:defPPr>
          </a:lstStyle>
          <a:p xmlns:a="http://schemas.openxmlformats.org/drawingml/2006/main">
            <a:pPr>
              <a:defRPr sz="1950" b="0">
                <a:solidFill>
                  <a:srgbClr val="F4F4ED"/>
                </a:solidFill>
                <a:latin typeface="Calibri"/>
                <a:ea typeface="Calibri"/>
                <a:cs typeface="Calibri"/>
              </a:defRPr>
            </a:pPr>
            <a:r>
              <a:rPr sz="1950" b="0">
                <a:solidFill>
                  <a:srgbClr val="F4F4ED"/>
                </a:solidFill>
                <a:latin typeface="Calibri"/>
                <a:ea typeface="Calibri"/>
                <a:cs typeface="Calibri"/>
              </a:rPr>
              <a:t>Next interviews: confirmed studio buyers and moderators</a:t>
            </a:r>
          </a:p>
        </p:txBody>
      </p:sp>
      <p:sp>
        <p:nvSpPr>
          <p:cNvPr id="13" name="">
            <a:extLst xmlns:a="http://schemas.openxmlformats.org/drawingml/2006/main">
              <a:ext uri="{FF2B5EF4-FFF2-40B4-BE49-F238E27FC236}">
                <a16:creationId xmlns:a16="http://schemas.microsoft.com/office/drawing/2014/main" id="{98BB21F4-350A-466F-8923-AA3E1428ACF6}"/>
              </a:ext>
            </a:extLst>
          </p:cNvPr>
          <p:cNvSpPr>
            <a:spLocks xmlns:a="http://schemas.openxmlformats.org/drawingml/2006/main" noGrp="1"/>
          </p:cNvSpPr>
          <p:nvPr/>
        </p:nvSpPr>
        <p:spPr>
          <a:xfrm xmlns:a="http://schemas.openxmlformats.org/drawingml/2006/main">
            <a:off x="666750" y="5524500"/>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4F4ED"/>
                </a:solidFill>
                <a:latin typeface="Calibri"/>
                <a:ea typeface="Calibri"/>
                <a:cs typeface="Calibri"/>
              </a:defRPr>
            </a:defPPr>
          </a:lstStyle>
          <a:p xmlns:a="http://schemas.openxmlformats.org/drawingml/2006/main">
            <a:pPr>
              <a:defRPr sz="1950" b="0">
                <a:solidFill>
                  <a:srgbClr val="F4F4ED"/>
                </a:solidFill>
                <a:latin typeface="Calibri"/>
                <a:ea typeface="Calibri"/>
                <a:cs typeface="Calibri"/>
              </a:defRPr>
            </a:pPr>
            <a:r>
              <a:rPr sz="1950" b="0">
                <a:solidFill>
                  <a:srgbClr val="F4F4ED"/>
                </a:solidFill>
                <a:latin typeface="Calibri"/>
                <a:ea typeface="Calibri"/>
                <a:cs typeface="Calibri"/>
              </a:rPr>
              <a:t>Only 2 of 20 selected game developer</a:t>
            </a:r>
          </a:p>
        </p:txBody>
      </p:sp>
    </p:spTree>
    <p:extLst>
      <p:ext uri="{BB962C8B-B14F-4D97-AF65-F5344CB8AC3E}">
        <p14:creationId xmlns:p14="http://schemas.microsoft.com/office/powerpoint/2010/main" val="1551893680"/>
      </p:ext>
    </p:extLst>
  </p:cSld>
</p:sld>
</file>

<file path=ppt/slides/slide4.xml><?xml version="1.0" encoding="utf-8"?>
<p:sld xmlns:p="http://schemas.openxmlformats.org/presentationml/2006/main">
  <p:cSld>
    <p:bg>
      <p:bgPr>
        <a:solidFill xmlns:a="http://schemas.openxmlformats.org/drawingml/2006/main">
          <a:srgbClr val="080B0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194B74D-6924-467A-A316-E8B993A870E5}"/>
              </a:ext>
            </a:extLst>
          </p:cNvPr>
          <p:cNvSpPr>
            <a:spLocks xmlns:a="http://schemas.openxmlformats.org/drawingml/2006/main" noGrp="1"/>
          </p:cNvSpPr>
          <p:nvPr/>
        </p:nvSpPr>
        <p:spPr>
          <a:xfrm xmlns:a="http://schemas.openxmlformats.org/drawingml/2006/main">
            <a:off x="619125" y="4476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E7F35A"/>
                </a:solidFill>
                <a:latin typeface="Calibri"/>
                <a:ea typeface="Calibri"/>
                <a:cs typeface="Calibri"/>
              </a:defRPr>
            </a:defPPr>
          </a:lstStyle>
          <a:p xmlns:a="http://schemas.openxmlformats.org/drawingml/2006/main">
            <a:pPr>
              <a:defRPr sz="3300" b="1">
                <a:solidFill>
                  <a:srgbClr val="E7F35A"/>
                </a:solidFill>
                <a:latin typeface="Calibri"/>
                <a:ea typeface="Calibri"/>
                <a:cs typeface="Calibri"/>
              </a:defRPr>
            </a:pPr>
            <a:r>
              <a:rPr sz="3300" b="1">
                <a:solidFill>
                  <a:srgbClr val="E7F35A"/>
                </a:solidFill>
                <a:latin typeface="Calibri"/>
                <a:ea typeface="Calibri"/>
                <a:cs typeface="Calibri"/>
              </a:rPr>
              <a:t>The cheating problem</a:t>
            </a:r>
          </a:p>
        </p:txBody>
      </p:sp>
      <p:sp>
        <p:nvSpPr>
          <p:cNvPr id="2" name="">
            <a:extLst xmlns:a="http://schemas.openxmlformats.org/drawingml/2006/main">
              <a:ext uri="{FF2B5EF4-FFF2-40B4-BE49-F238E27FC236}">
                <a16:creationId xmlns:a16="http://schemas.microsoft.com/office/drawing/2014/main" id="{24907C81-D4D9-4E51-B0B3-E6CB3C9F18D0}"/>
              </a:ext>
            </a:extLst>
          </p:cNvPr>
          <p:cNvSpPr>
            <a:spLocks xmlns:a="http://schemas.openxmlformats.org/drawingml/2006/main" noGrp="1"/>
          </p:cNvSpPr>
          <p:nvPr/>
        </p:nvSpPr>
        <p:spPr>
          <a:xfrm xmlns:a="http://schemas.openxmlformats.org/drawingml/2006/main">
            <a:off x="619125" y="621030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EB6B4"/>
                </a:solidFill>
                <a:latin typeface="Calibri"/>
                <a:ea typeface="Calibri"/>
                <a:cs typeface="Calibri"/>
              </a:defRPr>
            </a:defPPr>
          </a:lstStyle>
          <a:p xmlns:a="http://schemas.openxmlformats.org/drawingml/2006/main">
            <a:pPr>
              <a:defRPr sz="1200" b="0">
                <a:solidFill>
                  <a:srgbClr val="AEB6B4"/>
                </a:solidFill>
                <a:latin typeface="Calibri"/>
                <a:ea typeface="Calibri"/>
                <a:cs typeface="Calibri"/>
              </a:defRPr>
            </a:pPr>
            <a:r>
              <a:rPr sz="1200" b="0">
                <a:solidFill>
                  <a:srgbClr val="AEB6B4"/>
                </a:solidFill>
                <a:latin typeface="Calibri"/>
                <a:ea typeface="Calibri"/>
                <a:cs typeface="Calibri"/>
              </a:rPr>
              <a:t>Sources: Q05 n=19, Q06 n=20, Q10 n=19.</a:t>
            </a:r>
          </a:p>
        </p:txBody>
      </p:sp>
      <p:sp>
        <p:nvSpPr>
          <p:cNvPr id="3" name="">
            <a:extLst xmlns:a="http://schemas.openxmlformats.org/drawingml/2006/main">
              <a:ext uri="{FF2B5EF4-FFF2-40B4-BE49-F238E27FC236}">
                <a16:creationId xmlns:a16="http://schemas.microsoft.com/office/drawing/2014/main" id="{95EA0795-696A-4DA4-AEAD-897DF806FE7F}"/>
              </a:ext>
            </a:extLst>
          </p:cNvPr>
          <p:cNvSpPr>
            <a:spLocks xmlns:a="http://schemas.openxmlformats.org/drawingml/2006/main" noGrp="1"/>
          </p:cNvSpPr>
          <p:nvPr/>
        </p:nvSpPr>
        <p:spPr>
          <a:xfrm xmlns:a="http://schemas.openxmlformats.org/drawingml/2006/main">
            <a:off x="666750" y="1733550"/>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850" b="1">
                <a:solidFill>
                  <a:srgbClr val="E7F35A"/>
                </a:solidFill>
                <a:latin typeface="Calibri"/>
                <a:ea typeface="Calibri"/>
                <a:cs typeface="Calibri"/>
              </a:defRPr>
            </a:defPPr>
          </a:lstStyle>
          <a:p xmlns:a="http://schemas.openxmlformats.org/drawingml/2006/main">
            <a:pPr>
              <a:defRPr sz="5850" b="1">
                <a:solidFill>
                  <a:srgbClr val="E7F35A"/>
                </a:solidFill>
                <a:latin typeface="Calibri"/>
                <a:ea typeface="Calibri"/>
                <a:cs typeface="Calibri"/>
              </a:defRPr>
            </a:pPr>
            <a:r>
              <a:rPr sz="5850" b="1">
                <a:solidFill>
                  <a:srgbClr val="E7F35A"/>
                </a:solidFill>
                <a:latin typeface="Calibri"/>
                <a:ea typeface="Calibri"/>
                <a:cs typeface="Calibri"/>
              </a:rPr>
              <a:t>17 / 19</a:t>
            </a:r>
          </a:p>
        </p:txBody>
      </p:sp>
      <p:sp>
        <p:nvSpPr>
          <p:cNvPr id="4" name="">
            <a:extLst xmlns:a="http://schemas.openxmlformats.org/drawingml/2006/main">
              <a:ext uri="{FF2B5EF4-FFF2-40B4-BE49-F238E27FC236}">
                <a16:creationId xmlns:a16="http://schemas.microsoft.com/office/drawing/2014/main" id="{FB78D9EA-C797-47D6-B9E0-A877839558EC}"/>
              </a:ext>
            </a:extLst>
          </p:cNvPr>
          <p:cNvSpPr>
            <a:spLocks xmlns:a="http://schemas.openxmlformats.org/drawingml/2006/main" noGrp="1"/>
          </p:cNvSpPr>
          <p:nvPr/>
        </p:nvSpPr>
        <p:spPr>
          <a:xfrm xmlns:a="http://schemas.openxmlformats.org/drawingml/2006/main">
            <a:off x="666750" y="3009900"/>
            <a:ext cx="5238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4F4ED"/>
                </a:solidFill>
                <a:latin typeface="Calibri"/>
                <a:ea typeface="Calibri"/>
                <a:cs typeface="Calibri"/>
              </a:defRPr>
            </a:defPPr>
          </a:lstStyle>
          <a:p xmlns:a="http://schemas.openxmlformats.org/drawingml/2006/main">
            <a:pPr>
              <a:defRPr sz="2475" b="0">
                <a:solidFill>
                  <a:srgbClr val="F4F4ED"/>
                </a:solidFill>
                <a:latin typeface="Calibri"/>
                <a:ea typeface="Calibri"/>
                <a:cs typeface="Calibri"/>
              </a:defRPr>
            </a:pPr>
            <a:r>
              <a:rPr sz="2475" b="0">
                <a:solidFill>
                  <a:srgbClr val="F4F4ED"/>
                </a:solidFill>
                <a:latin typeface="Calibri"/>
                <a:ea typeface="Calibri"/>
                <a:cs typeface="Calibri"/>
              </a:rPr>
              <a:t>rated seriousness at 4–5</a:t>
            </a:r>
          </a:p>
        </p:txBody>
      </p:sp>
      <p:sp>
        <p:nvSpPr>
          <p:cNvPr id="5" name="">
            <a:extLst xmlns:a="http://schemas.openxmlformats.org/drawingml/2006/main">
              <a:ext uri="{FF2B5EF4-FFF2-40B4-BE49-F238E27FC236}">
                <a16:creationId xmlns:a16="http://schemas.microsoft.com/office/drawing/2014/main" id="{0B89DD54-BAFA-4CDE-AA6E-F7C5DD3E0D0C}"/>
              </a:ext>
            </a:extLst>
          </p:cNvPr>
          <p:cNvSpPr>
            <a:spLocks xmlns:a="http://schemas.openxmlformats.org/drawingml/2006/main" noGrp="1"/>
          </p:cNvSpPr>
          <p:nvPr/>
        </p:nvSpPr>
        <p:spPr>
          <a:xfrm xmlns:a="http://schemas.openxmlformats.org/drawingml/2006/main">
            <a:off x="666750" y="4229100"/>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58DDCD"/>
                </a:solidFill>
                <a:latin typeface="Calibri"/>
                <a:ea typeface="Calibri"/>
                <a:cs typeface="Calibri"/>
              </a:defRPr>
            </a:defPPr>
          </a:lstStyle>
          <a:p xmlns:a="http://schemas.openxmlformats.org/drawingml/2006/main">
            <a:pPr>
              <a:defRPr sz="2250" b="0">
                <a:solidFill>
                  <a:srgbClr val="58DDCD"/>
                </a:solidFill>
                <a:latin typeface="Calibri"/>
                <a:ea typeface="Calibri"/>
                <a:cs typeface="Calibri"/>
              </a:defRPr>
            </a:pPr>
            <a:r>
              <a:rPr sz="2250" b="0">
                <a:solidFill>
                  <a:srgbClr val="58DDCD"/>
                </a:solidFill>
                <a:latin typeface="Calibri"/>
                <a:ea typeface="Calibri"/>
                <a:cs typeface="Calibri"/>
              </a:rPr>
              <a:t>89.5%</a:t>
            </a:r>
          </a:p>
        </p:txBody>
      </p:sp>
      <p:sp>
        <p:nvSpPr>
          <p:cNvPr id="6" name="">
            <a:extLst xmlns:a="http://schemas.openxmlformats.org/drawingml/2006/main">
              <a:ext uri="{FF2B5EF4-FFF2-40B4-BE49-F238E27FC236}">
                <a16:creationId xmlns:a16="http://schemas.microsoft.com/office/drawing/2014/main" id="{CB190F79-8AA5-438C-81CA-BD2330DEAE68}"/>
              </a:ext>
            </a:extLst>
          </p:cNvPr>
          <p:cNvSpPr>
            <a:spLocks xmlns:a="http://schemas.openxmlformats.org/drawingml/2006/main" noGrp="1"/>
          </p:cNvSpPr>
          <p:nvPr/>
        </p:nvSpPr>
        <p:spPr>
          <a:xfrm xmlns:a="http://schemas.openxmlformats.org/drawingml/2006/main">
            <a:off x="6286500" y="1733550"/>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850" b="1">
                <a:solidFill>
                  <a:srgbClr val="E7F35A"/>
                </a:solidFill>
                <a:latin typeface="Calibri"/>
                <a:ea typeface="Calibri"/>
                <a:cs typeface="Calibri"/>
              </a:defRPr>
            </a:defPPr>
          </a:lstStyle>
          <a:p xmlns:a="http://schemas.openxmlformats.org/drawingml/2006/main">
            <a:pPr>
              <a:defRPr sz="5850" b="1">
                <a:solidFill>
                  <a:srgbClr val="E7F35A"/>
                </a:solidFill>
                <a:latin typeface="Calibri"/>
                <a:ea typeface="Calibri"/>
                <a:cs typeface="Calibri"/>
              </a:defRPr>
            </a:pPr>
            <a:r>
              <a:rPr sz="5850" b="1">
                <a:solidFill>
                  <a:srgbClr val="E7F35A"/>
                </a:solidFill>
                <a:latin typeface="Calibri"/>
                <a:ea typeface="Calibri"/>
                <a:cs typeface="Calibri"/>
              </a:rPr>
              <a:t>14 / 20</a:t>
            </a:r>
          </a:p>
        </p:txBody>
      </p:sp>
      <p:sp>
        <p:nvSpPr>
          <p:cNvPr id="7" name="">
            <a:extLst xmlns:a="http://schemas.openxmlformats.org/drawingml/2006/main">
              <a:ext uri="{FF2B5EF4-FFF2-40B4-BE49-F238E27FC236}">
                <a16:creationId xmlns:a16="http://schemas.microsoft.com/office/drawing/2014/main" id="{937584EE-9645-47EF-BF01-B8126DC32211}"/>
              </a:ext>
            </a:extLst>
          </p:cNvPr>
          <p:cNvSpPr>
            <a:spLocks xmlns:a="http://schemas.openxmlformats.org/drawingml/2006/main" noGrp="1"/>
          </p:cNvSpPr>
          <p:nvPr/>
        </p:nvSpPr>
        <p:spPr>
          <a:xfrm xmlns:a="http://schemas.openxmlformats.org/drawingml/2006/main">
            <a:off x="6286500" y="3009900"/>
            <a:ext cx="5238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4F4ED"/>
                </a:solidFill>
                <a:latin typeface="Calibri"/>
                <a:ea typeface="Calibri"/>
                <a:cs typeface="Calibri"/>
              </a:defRPr>
            </a:defPPr>
          </a:lstStyle>
          <a:p xmlns:a="http://schemas.openxmlformats.org/drawingml/2006/main">
            <a:pPr>
              <a:defRPr sz="2475" b="0">
                <a:solidFill>
                  <a:srgbClr val="F4F4ED"/>
                </a:solidFill>
                <a:latin typeface="Calibri"/>
                <a:ea typeface="Calibri"/>
                <a:cs typeface="Calibri"/>
              </a:defRPr>
            </a:pPr>
            <a:r>
              <a:rPr sz="2475" b="0">
                <a:solidFill>
                  <a:srgbClr val="F4F4ED"/>
                </a:solidFill>
                <a:latin typeface="Calibri"/>
                <a:ea typeface="Calibri"/>
                <a:cs typeface="Calibri"/>
              </a:rPr>
              <a:t>met cheating often or sometimes</a:t>
            </a:r>
          </a:p>
        </p:txBody>
      </p:sp>
      <p:sp>
        <p:nvSpPr>
          <p:cNvPr id="8" name="">
            <a:extLst xmlns:a="http://schemas.openxmlformats.org/drawingml/2006/main">
              <a:ext uri="{FF2B5EF4-FFF2-40B4-BE49-F238E27FC236}">
                <a16:creationId xmlns:a16="http://schemas.microsoft.com/office/drawing/2014/main" id="{31A3B43E-9D22-4456-80B5-89D82007F8B7}"/>
              </a:ext>
            </a:extLst>
          </p:cNvPr>
          <p:cNvSpPr>
            <a:spLocks xmlns:a="http://schemas.openxmlformats.org/drawingml/2006/main" noGrp="1"/>
          </p:cNvSpPr>
          <p:nvPr/>
        </p:nvSpPr>
        <p:spPr>
          <a:xfrm xmlns:a="http://schemas.openxmlformats.org/drawingml/2006/main">
            <a:off x="6286500" y="4229100"/>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58DDCD"/>
                </a:solidFill>
                <a:latin typeface="Calibri"/>
                <a:ea typeface="Calibri"/>
                <a:cs typeface="Calibri"/>
              </a:defRPr>
            </a:defPPr>
          </a:lstStyle>
          <a:p xmlns:a="http://schemas.openxmlformats.org/drawingml/2006/main">
            <a:pPr>
              <a:defRPr sz="2250" b="0">
                <a:solidFill>
                  <a:srgbClr val="58DDCD"/>
                </a:solidFill>
                <a:latin typeface="Calibri"/>
                <a:ea typeface="Calibri"/>
                <a:cs typeface="Calibri"/>
              </a:defRPr>
            </a:pPr>
            <a:r>
              <a:rPr sz="2250" b="0">
                <a:solidFill>
                  <a:srgbClr val="58DDCD"/>
                </a:solidFill>
                <a:latin typeface="Calibri"/>
                <a:ea typeface="Calibri"/>
                <a:cs typeface="Calibri"/>
              </a:rPr>
              <a:t>70%</a:t>
            </a:r>
          </a:p>
        </p:txBody>
      </p:sp>
      <p:sp>
        <p:nvSpPr>
          <p:cNvPr id="9" name="">
            <a:extLst xmlns:a="http://schemas.openxmlformats.org/drawingml/2006/main">
              <a:ext uri="{FF2B5EF4-FFF2-40B4-BE49-F238E27FC236}">
                <a16:creationId xmlns:a16="http://schemas.microsoft.com/office/drawing/2014/main" id="{CF6C1B27-6579-4125-8E9B-2F83276EBB6A}"/>
              </a:ext>
            </a:extLst>
          </p:cNvPr>
          <p:cNvSpPr>
            <a:spLocks xmlns:a="http://schemas.openxmlformats.org/drawingml/2006/main" noGrp="1"/>
          </p:cNvSpPr>
          <p:nvPr/>
        </p:nvSpPr>
        <p:spPr>
          <a:xfrm xmlns:a="http://schemas.openxmlformats.org/drawingml/2006/main">
            <a:off x="666750" y="5000625"/>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4F4ED"/>
                </a:solidFill>
                <a:latin typeface="Calibri"/>
                <a:ea typeface="Calibri"/>
                <a:cs typeface="Calibri"/>
              </a:defRPr>
            </a:defPPr>
          </a:lstStyle>
          <a:p xmlns:a="http://schemas.openxmlformats.org/drawingml/2006/main">
            <a:pPr>
              <a:defRPr sz="1950" b="0">
                <a:solidFill>
                  <a:srgbClr val="F4F4ED"/>
                </a:solidFill>
                <a:latin typeface="Calibri"/>
                <a:ea typeface="Calibri"/>
                <a:cs typeface="Calibri"/>
              </a:defRPr>
            </a:pPr>
            <a:r>
              <a:rPr sz="1950" b="0">
                <a:solidFill>
                  <a:srgbClr val="F4F4ED"/>
                </a:solidFill>
                <a:latin typeface="Calibri"/>
                <a:ea typeface="Calibri"/>
                <a:cs typeface="Calibri"/>
              </a:rPr>
              <a:t>Average satisfaction with current tools: 2.95 / 5</a:t>
            </a:r>
          </a:p>
        </p:txBody>
      </p:sp>
      <p:sp>
        <p:nvSpPr>
          <p:cNvPr id="10" name="">
            <a:extLst xmlns:a="http://schemas.openxmlformats.org/drawingml/2006/main">
              <a:ext uri="{FF2B5EF4-FFF2-40B4-BE49-F238E27FC236}">
                <a16:creationId xmlns:a16="http://schemas.microsoft.com/office/drawing/2014/main" id="{4AAB8F35-D6FE-4BBC-B214-9CCFC8B1C829}"/>
              </a:ext>
            </a:extLst>
          </p:cNvPr>
          <p:cNvSpPr>
            <a:spLocks xmlns:a="http://schemas.openxmlformats.org/drawingml/2006/main" noGrp="1"/>
          </p:cNvSpPr>
          <p:nvPr/>
        </p:nvSpPr>
        <p:spPr>
          <a:xfrm xmlns:a="http://schemas.openxmlformats.org/drawingml/2006/main">
            <a:off x="666750" y="55054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4F4ED"/>
                </a:solidFill>
                <a:latin typeface="Calibri"/>
                <a:ea typeface="Calibri"/>
                <a:cs typeface="Calibri"/>
              </a:defRPr>
            </a:defPPr>
          </a:lstStyle>
          <a:p xmlns:a="http://schemas.openxmlformats.org/drawingml/2006/main">
            <a:pPr>
              <a:defRPr sz="1950" b="0">
                <a:solidFill>
                  <a:srgbClr val="F4F4ED"/>
                </a:solidFill>
                <a:latin typeface="Calibri"/>
                <a:ea typeface="Calibri"/>
                <a:cs typeface="Calibri"/>
              </a:defRPr>
            </a:pPr>
            <a:r>
              <a:rPr sz="1950" b="0">
                <a:solidFill>
                  <a:srgbClr val="F4F4ED"/>
                </a:solidFill>
                <a:latin typeface="Calibri"/>
                <a:ea typeface="Calibri"/>
                <a:cs typeface="Calibri"/>
              </a:rPr>
              <a:t>Results describe this sample</a:t>
            </a:r>
          </a:p>
        </p:txBody>
      </p:sp>
    </p:spTree>
    <p:extLst>
      <p:ext uri="{BB962C8B-B14F-4D97-AF65-F5344CB8AC3E}">
        <p14:creationId xmlns:p14="http://schemas.microsoft.com/office/powerpoint/2010/main" val="57164829"/>
      </p:ext>
    </p:extLst>
  </p:cSld>
</p:sld>
</file>

<file path=ppt/slides/slide5.xml><?xml version="1.0" encoding="utf-8"?>
<p:sld xmlns:p="http://schemas.openxmlformats.org/presentationml/2006/main">
  <p:cSld>
    <p:bg>
      <p:bgPr>
        <a:solidFill xmlns:a="http://schemas.openxmlformats.org/drawingml/2006/main">
          <a:srgbClr val="080B0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121FC2B-74C5-419B-9971-C927FFABDCBB}"/>
              </a:ext>
            </a:extLst>
          </p:cNvPr>
          <p:cNvSpPr>
            <a:spLocks xmlns:a="http://schemas.openxmlformats.org/drawingml/2006/main" noGrp="1"/>
          </p:cNvSpPr>
          <p:nvPr/>
        </p:nvSpPr>
        <p:spPr>
          <a:xfrm xmlns:a="http://schemas.openxmlformats.org/drawingml/2006/main">
            <a:off x="619125" y="4476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E7F35A"/>
                </a:solidFill>
                <a:latin typeface="Calibri"/>
                <a:ea typeface="Calibri"/>
                <a:cs typeface="Calibri"/>
              </a:defRPr>
            </a:defPPr>
          </a:lstStyle>
          <a:p xmlns:a="http://schemas.openxmlformats.org/drawingml/2006/main">
            <a:pPr>
              <a:defRPr sz="3300" b="1">
                <a:solidFill>
                  <a:srgbClr val="E7F35A"/>
                </a:solidFill>
                <a:latin typeface="Calibri"/>
                <a:ea typeface="Calibri"/>
                <a:cs typeface="Calibri"/>
              </a:defRPr>
            </a:pPr>
            <a:r>
              <a:rPr sz="3300" b="1">
                <a:solidFill>
                  <a:srgbClr val="E7F35A"/>
                </a:solidFill>
                <a:latin typeface="Calibri"/>
                <a:ea typeface="Calibri"/>
                <a:cs typeface="Calibri"/>
              </a:rPr>
              <a:t>Interest and concerns</a:t>
            </a:r>
          </a:p>
        </p:txBody>
      </p:sp>
      <p:sp>
        <p:nvSpPr>
          <p:cNvPr id="2" name="">
            <a:extLst xmlns:a="http://schemas.openxmlformats.org/drawingml/2006/main">
              <a:ext uri="{FF2B5EF4-FFF2-40B4-BE49-F238E27FC236}">
                <a16:creationId xmlns:a16="http://schemas.microsoft.com/office/drawing/2014/main" id="{3FE7EB1B-ECFD-4033-8743-75A9E6C994EC}"/>
              </a:ext>
            </a:extLst>
          </p:cNvPr>
          <p:cNvSpPr>
            <a:spLocks xmlns:a="http://schemas.openxmlformats.org/drawingml/2006/main" noGrp="1"/>
          </p:cNvSpPr>
          <p:nvPr/>
        </p:nvSpPr>
        <p:spPr>
          <a:xfrm xmlns:a="http://schemas.openxmlformats.org/drawingml/2006/main">
            <a:off x="619125" y="621030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EB6B4"/>
                </a:solidFill>
                <a:latin typeface="Calibri"/>
                <a:ea typeface="Calibri"/>
                <a:cs typeface="Calibri"/>
              </a:defRPr>
            </a:defPPr>
          </a:lstStyle>
          <a:p xmlns:a="http://schemas.openxmlformats.org/drawingml/2006/main">
            <a:pPr>
              <a:defRPr sz="1200" b="0">
                <a:solidFill>
                  <a:srgbClr val="AEB6B4"/>
                </a:solidFill>
                <a:latin typeface="Calibri"/>
                <a:ea typeface="Calibri"/>
                <a:cs typeface="Calibri"/>
              </a:defRPr>
            </a:pPr>
            <a:r>
              <a:rPr sz="1200" b="0">
                <a:solidFill>
                  <a:srgbClr val="AEB6B4"/>
                </a:solidFill>
                <a:latin typeface="Calibri"/>
                <a:ea typeface="Calibri"/>
                <a:cs typeface="Calibri"/>
              </a:rPr>
              <a:t>Sources: Q13 and Q16, n=20. People could select several concerns.</a:t>
            </a:r>
          </a:p>
        </p:txBody>
      </p:sp>
      <p:graphicFrame>
        <p:nvGraphicFramePr>
          <p:cNvPr id="3" name="Chart">
            <a:extLst xmlns:a="http://schemas.openxmlformats.org/drawingml/2006/main">
              <a:ext uri="{FF2B5EF4-FFF2-40B4-BE49-F238E27FC236}">
                <a16:creationId xmlns:a16="http://schemas.microsoft.com/office/drawing/2014/main" id="{08360F11-B876-477E-9226-F4DB6F79059A}"/>
              </a:ext>
            </a:extLst>
          </p:cNvPr>
          <p:cNvGraphicFramePr/>
          <p:nvPr/>
        </p:nvGraphicFramePr>
        <p:xfrm>
          <a:off xmlns:a="http://schemas.openxmlformats.org/drawingml/2006/main" x="619125" y="1724025"/>
          <a:ext xmlns:a="http://schemas.openxmlformats.org/drawingml/2006/main" cx="7524750" cy="3943350"/>
        </p:xfrm>
        <a:graphic xmlns:a="http://schemas.openxmlformats.org/drawingml/2006/main">
          <a:graphicData uri="http://schemas.openxmlformats.org/drawingml/2006/chart">
            <c:chart xmlns:r="http://schemas.openxmlformats.org/officeDocument/2006/relationships" xmlns:c="http://schemas.openxmlformats.org/drawingml/2006/chart" r:id="Rcb8da24fb721464b"/>
          </a:graphicData>
        </a:graphic>
      </p:graphicFrame>
      <p:sp>
        <p:nvSpPr>
          <p:cNvPr id="4" name="">
            <a:extLst xmlns:a="http://schemas.openxmlformats.org/drawingml/2006/main">
              <a:ext uri="{FF2B5EF4-FFF2-40B4-BE49-F238E27FC236}">
                <a16:creationId xmlns:a16="http://schemas.microsoft.com/office/drawing/2014/main" id="{EFF305E7-0271-4442-A74E-F1435639637E}"/>
              </a:ext>
            </a:extLst>
          </p:cNvPr>
          <p:cNvSpPr>
            <a:spLocks xmlns:a="http://schemas.openxmlformats.org/drawingml/2006/main" noGrp="1"/>
          </p:cNvSpPr>
          <p:nvPr/>
        </p:nvSpPr>
        <p:spPr>
          <a:xfrm xmlns:a="http://schemas.openxmlformats.org/drawingml/2006/main">
            <a:off x="666750" y="1466850"/>
            <a:ext cx="7334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AEB6B4"/>
                </a:solidFill>
                <a:latin typeface="Calibri"/>
                <a:ea typeface="Calibri"/>
                <a:cs typeface="Calibri"/>
              </a:defRPr>
            </a:defPPr>
          </a:lstStyle>
          <a:p xmlns:a="http://schemas.openxmlformats.org/drawingml/2006/main">
            <a:pPr>
              <a:defRPr sz="1425" b="0">
                <a:solidFill>
                  <a:srgbClr val="AEB6B4"/>
                </a:solidFill>
                <a:latin typeface="Calibri"/>
                <a:ea typeface="Calibri"/>
                <a:cs typeface="Calibri"/>
              </a:defRPr>
            </a:pPr>
            <a:r>
              <a:rPr sz="1425" b="0">
                <a:solidFill>
                  <a:srgbClr val="AEB6B4"/>
                </a:solidFill>
                <a:latin typeface="Calibri"/>
                <a:ea typeface="Calibri"/>
                <a:cs typeface="Calibri"/>
              </a:rPr>
              <a:t>Number of participants (n=20)</a:t>
            </a:r>
          </a:p>
        </p:txBody>
      </p:sp>
      <p:sp>
        <p:nvSpPr>
          <p:cNvPr id="5" name="">
            <a:extLst xmlns:a="http://schemas.openxmlformats.org/drawingml/2006/main">
              <a:ext uri="{FF2B5EF4-FFF2-40B4-BE49-F238E27FC236}">
                <a16:creationId xmlns:a16="http://schemas.microsoft.com/office/drawing/2014/main" id="{546DA2F1-22D3-4007-BE19-41F27C792B2E}"/>
              </a:ext>
            </a:extLst>
          </p:cNvPr>
          <p:cNvSpPr>
            <a:spLocks xmlns:a="http://schemas.openxmlformats.org/drawingml/2006/main" noGrp="1"/>
          </p:cNvSpPr>
          <p:nvPr/>
        </p:nvSpPr>
        <p:spPr>
          <a:xfrm xmlns:a="http://schemas.openxmlformats.org/drawingml/2006/main">
            <a:off x="8572500" y="2047875"/>
            <a:ext cx="2857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E7F35A"/>
                </a:solidFill>
                <a:latin typeface="Calibri"/>
                <a:ea typeface="Calibri"/>
                <a:cs typeface="Calibri"/>
              </a:defRPr>
            </a:defPPr>
          </a:lstStyle>
          <a:p xmlns:a="http://schemas.openxmlformats.org/drawingml/2006/main">
            <a:pPr>
              <a:defRPr sz="2550" b="1">
                <a:solidFill>
                  <a:srgbClr val="E7F35A"/>
                </a:solidFill>
                <a:latin typeface="Calibri"/>
                <a:ea typeface="Calibri"/>
                <a:cs typeface="Calibri"/>
              </a:defRPr>
            </a:pPr>
            <a:r>
              <a:rPr sz="2550" b="1">
                <a:solidFill>
                  <a:srgbClr val="E7F35A"/>
                </a:solidFill>
                <a:latin typeface="Calibri"/>
                <a:ea typeface="Calibri"/>
                <a:cs typeface="Calibri"/>
              </a:rPr>
              <a:t>16 of 20 rated usefulness at 4–5</a:t>
            </a:r>
          </a:p>
        </p:txBody>
      </p:sp>
      <p:sp>
        <p:nvSpPr>
          <p:cNvPr id="6" name="">
            <a:extLst xmlns:a="http://schemas.openxmlformats.org/drawingml/2006/main">
              <a:ext uri="{FF2B5EF4-FFF2-40B4-BE49-F238E27FC236}">
                <a16:creationId xmlns:a16="http://schemas.microsoft.com/office/drawing/2014/main" id="{180EC0C6-A94E-4913-8BB3-2B7631AEE8A8}"/>
              </a:ext>
            </a:extLst>
          </p:cNvPr>
          <p:cNvSpPr>
            <a:spLocks xmlns:a="http://schemas.openxmlformats.org/drawingml/2006/main" noGrp="1"/>
          </p:cNvSpPr>
          <p:nvPr/>
        </p:nvSpPr>
        <p:spPr>
          <a:xfrm xmlns:a="http://schemas.openxmlformats.org/drawingml/2006/main">
            <a:off x="8572500" y="4210050"/>
            <a:ext cx="2857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AEB6B4"/>
                </a:solidFill>
                <a:latin typeface="Calibri"/>
                <a:ea typeface="Calibri"/>
                <a:cs typeface="Calibri"/>
              </a:defRPr>
            </a:defPPr>
          </a:lstStyle>
          <a:p xmlns:a="http://schemas.openxmlformats.org/drawingml/2006/main">
            <a:pPr>
              <a:defRPr sz="2025" b="0">
                <a:solidFill>
                  <a:srgbClr val="AEB6B4"/>
                </a:solidFill>
                <a:latin typeface="Calibri"/>
                <a:ea typeface="Calibri"/>
                <a:cs typeface="Calibri"/>
              </a:defRPr>
            </a:pPr>
            <a:r>
              <a:rPr sz="2025" b="0">
                <a:solidFill>
                  <a:srgbClr val="AEB6B4"/>
                </a:solidFill>
                <a:latin typeface="Calibri"/>
                <a:ea typeface="Calibri"/>
                <a:cs typeface="Calibri"/>
              </a:rPr>
              <a:t>Interest does not prove detection quality or payment</a:t>
            </a:r>
          </a:p>
        </p:txBody>
      </p:sp>
    </p:spTree>
    <p:extLst>
      <p:ext uri="{BB962C8B-B14F-4D97-AF65-F5344CB8AC3E}">
        <p14:creationId xmlns:p14="http://schemas.microsoft.com/office/powerpoint/2010/main" val="682089966"/>
      </p:ext>
    </p:extLst>
  </p:cSld>
</p:sld>
</file>

<file path=ppt/slides/slide6.xml><?xml version="1.0" encoding="utf-8"?>
<p:sld xmlns:p="http://schemas.openxmlformats.org/presentationml/2006/main">
  <p:cSld>
    <p:bg>
      <p:bgPr>
        <a:solidFill xmlns:a="http://schemas.openxmlformats.org/drawingml/2006/main">
          <a:srgbClr val="080B0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597DFEA-35A5-4000-A4C5-21290281CCE3}"/>
              </a:ext>
            </a:extLst>
          </p:cNvPr>
          <p:cNvSpPr>
            <a:spLocks xmlns:a="http://schemas.openxmlformats.org/drawingml/2006/main" noGrp="1"/>
          </p:cNvSpPr>
          <p:nvPr/>
        </p:nvSpPr>
        <p:spPr>
          <a:xfrm xmlns:a="http://schemas.openxmlformats.org/drawingml/2006/main">
            <a:off x="619125" y="4476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E7F35A"/>
                </a:solidFill>
                <a:latin typeface="Calibri"/>
                <a:ea typeface="Calibri"/>
                <a:cs typeface="Calibri"/>
              </a:defRPr>
            </a:defPPr>
          </a:lstStyle>
          <a:p xmlns:a="http://schemas.openxmlformats.org/drawingml/2006/main">
            <a:pPr>
              <a:defRPr sz="3300" b="1">
                <a:solidFill>
                  <a:srgbClr val="E7F35A"/>
                </a:solidFill>
                <a:latin typeface="Calibri"/>
                <a:ea typeface="Calibri"/>
                <a:cs typeface="Calibri"/>
              </a:defRPr>
            </a:pPr>
            <a:r>
              <a:rPr sz="3300" b="1">
                <a:solidFill>
                  <a:srgbClr val="E7F35A"/>
                </a:solidFill>
                <a:latin typeface="Calibri"/>
                <a:ea typeface="Calibri"/>
                <a:cs typeface="Calibri"/>
              </a:rPr>
              <a:t>Review before permanent bans</a:t>
            </a:r>
          </a:p>
        </p:txBody>
      </p:sp>
      <p:sp>
        <p:nvSpPr>
          <p:cNvPr id="2" name="">
            <a:extLst xmlns:a="http://schemas.openxmlformats.org/drawingml/2006/main">
              <a:ext uri="{FF2B5EF4-FFF2-40B4-BE49-F238E27FC236}">
                <a16:creationId xmlns:a16="http://schemas.microsoft.com/office/drawing/2014/main" id="{A8861023-7A56-4C3E-99A6-987EE9F7D29E}"/>
              </a:ext>
            </a:extLst>
          </p:cNvPr>
          <p:cNvSpPr>
            <a:spLocks xmlns:a="http://schemas.openxmlformats.org/drawingml/2006/main" noGrp="1"/>
          </p:cNvSpPr>
          <p:nvPr/>
        </p:nvSpPr>
        <p:spPr>
          <a:xfrm xmlns:a="http://schemas.openxmlformats.org/drawingml/2006/main">
            <a:off x="619125" y="621030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EB6B4"/>
                </a:solidFill>
                <a:latin typeface="Calibri"/>
                <a:ea typeface="Calibri"/>
                <a:cs typeface="Calibri"/>
              </a:defRPr>
            </a:defPPr>
          </a:lstStyle>
          <a:p xmlns:a="http://schemas.openxmlformats.org/drawingml/2006/main">
            <a:pPr>
              <a:defRPr sz="1200" b="0">
                <a:solidFill>
                  <a:srgbClr val="AEB6B4"/>
                </a:solidFill>
                <a:latin typeface="Calibri"/>
                <a:ea typeface="Calibri"/>
                <a:cs typeface="Calibri"/>
              </a:defRPr>
            </a:pPr>
            <a:r>
              <a:rPr sz="1200" b="0">
                <a:solidFill>
                  <a:srgbClr val="AEB6B4"/>
                </a:solidFill>
                <a:latin typeface="Calibri"/>
                <a:ea typeface="Calibri"/>
                <a:cs typeface="Calibri"/>
              </a:rPr>
              <a:t>Sources: Q17 and Q18, n=20. Several actions could be selected.</a:t>
            </a:r>
          </a:p>
        </p:txBody>
      </p:sp>
      <p:graphicFrame>
        <p:nvGraphicFramePr>
          <p:cNvPr id="3" name="Chart">
            <a:extLst xmlns:a="http://schemas.openxmlformats.org/drawingml/2006/main">
              <a:ext uri="{FF2B5EF4-FFF2-40B4-BE49-F238E27FC236}">
                <a16:creationId xmlns:a16="http://schemas.microsoft.com/office/drawing/2014/main" id="{B4DA813D-DB61-4137-82EE-D9E556241767}"/>
              </a:ext>
            </a:extLst>
          </p:cNvPr>
          <p:cNvGraphicFramePr/>
          <p:nvPr/>
        </p:nvGraphicFramePr>
        <p:xfrm>
          <a:off xmlns:a="http://schemas.openxmlformats.org/drawingml/2006/main" x="619125" y="1724025"/>
          <a:ext xmlns:a="http://schemas.openxmlformats.org/drawingml/2006/main" cx="7524750" cy="3943350"/>
        </p:xfrm>
        <a:graphic xmlns:a="http://schemas.openxmlformats.org/drawingml/2006/main">
          <a:graphicData uri="http://schemas.openxmlformats.org/drawingml/2006/chart">
            <c:chart xmlns:r="http://schemas.openxmlformats.org/officeDocument/2006/relationships" xmlns:c="http://schemas.openxmlformats.org/drawingml/2006/chart" r:id="Rb57b3bcb6dd74bc7"/>
          </a:graphicData>
        </a:graphic>
      </p:graphicFrame>
      <p:sp>
        <p:nvSpPr>
          <p:cNvPr id="4" name="">
            <a:extLst xmlns:a="http://schemas.openxmlformats.org/drawingml/2006/main">
              <a:ext uri="{FF2B5EF4-FFF2-40B4-BE49-F238E27FC236}">
                <a16:creationId xmlns:a16="http://schemas.microsoft.com/office/drawing/2014/main" id="{FD557A21-718E-49C7-9E10-CFC670FCAD07}"/>
              </a:ext>
            </a:extLst>
          </p:cNvPr>
          <p:cNvSpPr>
            <a:spLocks xmlns:a="http://schemas.openxmlformats.org/drawingml/2006/main" noGrp="1"/>
          </p:cNvSpPr>
          <p:nvPr/>
        </p:nvSpPr>
        <p:spPr>
          <a:xfrm xmlns:a="http://schemas.openxmlformats.org/drawingml/2006/main">
            <a:off x="666750" y="1466850"/>
            <a:ext cx="7334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AEB6B4"/>
                </a:solidFill>
                <a:latin typeface="Calibri"/>
                <a:ea typeface="Calibri"/>
                <a:cs typeface="Calibri"/>
              </a:defRPr>
            </a:defPPr>
          </a:lstStyle>
          <a:p xmlns:a="http://schemas.openxmlformats.org/drawingml/2006/main">
            <a:pPr>
              <a:defRPr sz="1425" b="0">
                <a:solidFill>
                  <a:srgbClr val="AEB6B4"/>
                </a:solidFill>
                <a:latin typeface="Calibri"/>
                <a:ea typeface="Calibri"/>
                <a:cs typeface="Calibri"/>
              </a:defRPr>
            </a:pPr>
            <a:r>
              <a:rPr sz="1425" b="0">
                <a:solidFill>
                  <a:srgbClr val="AEB6B4"/>
                </a:solidFill>
                <a:latin typeface="Calibri"/>
                <a:ea typeface="Calibri"/>
                <a:cs typeface="Calibri"/>
              </a:rPr>
              <a:t>Number of participants (n=20)</a:t>
            </a:r>
          </a:p>
        </p:txBody>
      </p:sp>
      <p:sp>
        <p:nvSpPr>
          <p:cNvPr id="5" name="">
            <a:extLst xmlns:a="http://schemas.openxmlformats.org/drawingml/2006/main">
              <a:ext uri="{FF2B5EF4-FFF2-40B4-BE49-F238E27FC236}">
                <a16:creationId xmlns:a16="http://schemas.microsoft.com/office/drawing/2014/main" id="{F5F96B06-544C-4E35-8FCE-EB445EC82B9C}"/>
              </a:ext>
            </a:extLst>
          </p:cNvPr>
          <p:cNvSpPr>
            <a:spLocks xmlns:a="http://schemas.openxmlformats.org/drawingml/2006/main" noGrp="1"/>
          </p:cNvSpPr>
          <p:nvPr/>
        </p:nvSpPr>
        <p:spPr>
          <a:xfrm xmlns:a="http://schemas.openxmlformats.org/drawingml/2006/main">
            <a:off x="8572500" y="2047875"/>
            <a:ext cx="2857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E7F35A"/>
                </a:solidFill>
                <a:latin typeface="Calibri"/>
                <a:ea typeface="Calibri"/>
                <a:cs typeface="Calibri"/>
              </a:defRPr>
            </a:defPPr>
          </a:lstStyle>
          <a:p xmlns:a="http://schemas.openxmlformats.org/drawingml/2006/main">
            <a:pPr>
              <a:defRPr sz="2550" b="1">
                <a:solidFill>
                  <a:srgbClr val="E7F35A"/>
                </a:solidFill>
                <a:latin typeface="Calibri"/>
                <a:ea typeface="Calibri"/>
                <a:cs typeface="Calibri"/>
              </a:defRPr>
            </a:pPr>
            <a:r>
              <a:rPr sz="2550" b="1">
                <a:solidFill>
                  <a:srgbClr val="E7F35A"/>
                </a:solidFill>
                <a:latin typeface="Calibri"/>
                <a:ea typeface="Calibri"/>
                <a:cs typeface="Calibri"/>
              </a:rPr>
              <a:t>20 of 20 said review would increase trust</a:t>
            </a:r>
          </a:p>
        </p:txBody>
      </p:sp>
      <p:sp>
        <p:nvSpPr>
          <p:cNvPr id="6" name="">
            <a:extLst xmlns:a="http://schemas.openxmlformats.org/drawingml/2006/main">
              <a:ext uri="{FF2B5EF4-FFF2-40B4-BE49-F238E27FC236}">
                <a16:creationId xmlns:a16="http://schemas.microsoft.com/office/drawing/2014/main" id="{87B579C4-27C9-40BE-A0FB-CE54A2E1D671}"/>
              </a:ext>
            </a:extLst>
          </p:cNvPr>
          <p:cNvSpPr>
            <a:spLocks xmlns:a="http://schemas.openxmlformats.org/drawingml/2006/main" noGrp="1"/>
          </p:cNvSpPr>
          <p:nvPr/>
        </p:nvSpPr>
        <p:spPr>
          <a:xfrm xmlns:a="http://schemas.openxmlformats.org/drawingml/2006/main">
            <a:off x="8572500" y="4210050"/>
            <a:ext cx="2857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AEB6B4"/>
                </a:solidFill>
                <a:latin typeface="Calibri"/>
                <a:ea typeface="Calibri"/>
                <a:cs typeface="Calibri"/>
              </a:defRPr>
            </a:defPPr>
          </a:lstStyle>
          <a:p xmlns:a="http://schemas.openxmlformats.org/drawingml/2006/main">
            <a:pPr>
              <a:defRPr sz="2025" b="0">
                <a:solidFill>
                  <a:srgbClr val="AEB6B4"/>
                </a:solidFill>
                <a:latin typeface="Calibri"/>
                <a:ea typeface="Calibri"/>
                <a:cs typeface="Calibri"/>
              </a:defRPr>
            </a:pPr>
            <a:r>
              <a:rPr sz="2025" b="0">
                <a:solidFill>
                  <a:srgbClr val="AEB6B4"/>
                </a:solidFill>
                <a:latin typeface="Calibri"/>
                <a:ea typeface="Calibri"/>
                <a:cs typeface="Calibri"/>
              </a:rPr>
              <a:t>Review time and cost still need testing</a:t>
            </a:r>
          </a:p>
        </p:txBody>
      </p:sp>
    </p:spTree>
    <p:extLst>
      <p:ext uri="{BB962C8B-B14F-4D97-AF65-F5344CB8AC3E}">
        <p14:creationId xmlns:p14="http://schemas.microsoft.com/office/powerpoint/2010/main" val="648860442"/>
      </p:ext>
    </p:extLst>
  </p:cSld>
</p:sld>
</file>

<file path=ppt/slides/slide7.xml><?xml version="1.0" encoding="utf-8"?>
<p:sld xmlns:p="http://schemas.openxmlformats.org/presentationml/2006/main">
  <p:cSld>
    <p:bg>
      <p:bgPr>
        <a:solidFill xmlns:a="http://schemas.openxmlformats.org/drawingml/2006/main">
          <a:srgbClr val="080B0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0FB1CE-ACD5-4EA6-B9BE-02409078B0D5}"/>
              </a:ext>
            </a:extLst>
          </p:cNvPr>
          <p:cNvSpPr>
            <a:spLocks xmlns:a="http://schemas.openxmlformats.org/drawingml/2006/main" noGrp="1"/>
          </p:cNvSpPr>
          <p:nvPr/>
        </p:nvSpPr>
        <p:spPr>
          <a:xfrm xmlns:a="http://schemas.openxmlformats.org/drawingml/2006/main">
            <a:off x="619125" y="4476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E7F35A"/>
                </a:solidFill>
                <a:latin typeface="Calibri"/>
                <a:ea typeface="Calibri"/>
                <a:cs typeface="Calibri"/>
              </a:defRPr>
            </a:defPPr>
          </a:lstStyle>
          <a:p xmlns:a="http://schemas.openxmlformats.org/drawingml/2006/main">
            <a:pPr>
              <a:defRPr sz="3300" b="1">
                <a:solidFill>
                  <a:srgbClr val="E7F35A"/>
                </a:solidFill>
                <a:latin typeface="Calibri"/>
                <a:ea typeface="Calibri"/>
                <a:cs typeface="Calibri"/>
              </a:defRPr>
            </a:pPr>
            <a:r>
              <a:rPr sz="3300" b="1">
                <a:solidFill>
                  <a:srgbClr val="E7F35A"/>
                </a:solidFill>
                <a:latin typeface="Calibri"/>
                <a:ea typeface="Calibri"/>
                <a:cs typeface="Calibri"/>
              </a:rPr>
              <a:t>Where the service should run</a:t>
            </a:r>
          </a:p>
        </p:txBody>
      </p:sp>
      <p:sp>
        <p:nvSpPr>
          <p:cNvPr id="2" name="">
            <a:extLst xmlns:a="http://schemas.openxmlformats.org/drawingml/2006/main">
              <a:ext uri="{FF2B5EF4-FFF2-40B4-BE49-F238E27FC236}">
                <a16:creationId xmlns:a16="http://schemas.microsoft.com/office/drawing/2014/main" id="{1C49279B-51AC-4789-B3FD-80DD6AC1496C}"/>
              </a:ext>
            </a:extLst>
          </p:cNvPr>
          <p:cNvSpPr>
            <a:spLocks xmlns:a="http://schemas.openxmlformats.org/drawingml/2006/main" noGrp="1"/>
          </p:cNvSpPr>
          <p:nvPr/>
        </p:nvSpPr>
        <p:spPr>
          <a:xfrm xmlns:a="http://schemas.openxmlformats.org/drawingml/2006/main">
            <a:off x="619125" y="621030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EB6B4"/>
                </a:solidFill>
                <a:latin typeface="Calibri"/>
                <a:ea typeface="Calibri"/>
                <a:cs typeface="Calibri"/>
              </a:defRPr>
            </a:defPPr>
          </a:lstStyle>
          <a:p xmlns:a="http://schemas.openxmlformats.org/drawingml/2006/main">
            <a:pPr>
              <a:defRPr sz="1200" b="0">
                <a:solidFill>
                  <a:srgbClr val="AEB6B4"/>
                </a:solidFill>
                <a:latin typeface="Calibri"/>
                <a:ea typeface="Calibri"/>
                <a:cs typeface="Calibri"/>
              </a:defRPr>
            </a:pPr>
            <a:r>
              <a:rPr sz="1200" b="0">
                <a:solidFill>
                  <a:srgbClr val="AEB6B4"/>
                </a:solidFill>
                <a:latin typeface="Calibri"/>
                <a:ea typeface="Calibri"/>
                <a:cs typeface="Calibri"/>
              </a:rPr>
              <a:t>Sources: Q21 and Q23, n=9. These are technical participants, not confirmed buyers.</a:t>
            </a:r>
          </a:p>
        </p:txBody>
      </p:sp>
      <p:graphicFrame>
        <p:nvGraphicFramePr>
          <p:cNvPr id="3" name="Chart">
            <a:extLst xmlns:a="http://schemas.openxmlformats.org/drawingml/2006/main">
              <a:ext uri="{FF2B5EF4-FFF2-40B4-BE49-F238E27FC236}">
                <a16:creationId xmlns:a16="http://schemas.microsoft.com/office/drawing/2014/main" id="{2E3E16CC-70E4-4B71-954F-DCEE3C221EF3}"/>
              </a:ext>
            </a:extLst>
          </p:cNvPr>
          <p:cNvGraphicFramePr/>
          <p:nvPr/>
        </p:nvGraphicFramePr>
        <p:xfrm>
          <a:off xmlns:a="http://schemas.openxmlformats.org/drawingml/2006/main" x="619125" y="1724025"/>
          <a:ext xmlns:a="http://schemas.openxmlformats.org/drawingml/2006/main" cx="7524750" cy="3943350"/>
        </p:xfrm>
        <a:graphic xmlns:a="http://schemas.openxmlformats.org/drawingml/2006/main">
          <a:graphicData uri="http://schemas.openxmlformats.org/drawingml/2006/chart">
            <c:chart xmlns:r="http://schemas.openxmlformats.org/officeDocument/2006/relationships" xmlns:c="http://schemas.openxmlformats.org/drawingml/2006/chart" r:id="R3ac574bf5dd54496"/>
          </a:graphicData>
        </a:graphic>
      </p:graphicFrame>
      <p:sp>
        <p:nvSpPr>
          <p:cNvPr id="4" name="">
            <a:extLst xmlns:a="http://schemas.openxmlformats.org/drawingml/2006/main">
              <a:ext uri="{FF2B5EF4-FFF2-40B4-BE49-F238E27FC236}">
                <a16:creationId xmlns:a16="http://schemas.microsoft.com/office/drawing/2014/main" id="{CC19DDEF-F9FF-42E9-BE3B-9673518771D2}"/>
              </a:ext>
            </a:extLst>
          </p:cNvPr>
          <p:cNvSpPr>
            <a:spLocks xmlns:a="http://schemas.openxmlformats.org/drawingml/2006/main" noGrp="1"/>
          </p:cNvSpPr>
          <p:nvPr/>
        </p:nvSpPr>
        <p:spPr>
          <a:xfrm xmlns:a="http://schemas.openxmlformats.org/drawingml/2006/main">
            <a:off x="666750" y="1466850"/>
            <a:ext cx="7334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AEB6B4"/>
                </a:solidFill>
                <a:latin typeface="Calibri"/>
                <a:ea typeface="Calibri"/>
                <a:cs typeface="Calibri"/>
              </a:defRPr>
            </a:defPPr>
          </a:lstStyle>
          <a:p xmlns:a="http://schemas.openxmlformats.org/drawingml/2006/main">
            <a:pPr>
              <a:defRPr sz="1425" b="0">
                <a:solidFill>
                  <a:srgbClr val="AEB6B4"/>
                </a:solidFill>
                <a:latin typeface="Calibri"/>
                <a:ea typeface="Calibri"/>
                <a:cs typeface="Calibri"/>
              </a:defRPr>
            </a:pPr>
            <a:r>
              <a:rPr sz="1425" b="0">
                <a:solidFill>
                  <a:srgbClr val="AEB6B4"/>
                </a:solidFill>
                <a:latin typeface="Calibri"/>
                <a:ea typeface="Calibri"/>
                <a:cs typeface="Calibri"/>
              </a:rPr>
              <a:t>Number of participants (n=9)</a:t>
            </a:r>
          </a:p>
        </p:txBody>
      </p:sp>
      <p:sp>
        <p:nvSpPr>
          <p:cNvPr id="5" name="">
            <a:extLst xmlns:a="http://schemas.openxmlformats.org/drawingml/2006/main">
              <a:ext uri="{FF2B5EF4-FFF2-40B4-BE49-F238E27FC236}">
                <a16:creationId xmlns:a16="http://schemas.microsoft.com/office/drawing/2014/main" id="{B3945440-2A86-43B6-B062-2C9FF93C0FDA}"/>
              </a:ext>
            </a:extLst>
          </p:cNvPr>
          <p:cNvSpPr>
            <a:spLocks xmlns:a="http://schemas.openxmlformats.org/drawingml/2006/main" noGrp="1"/>
          </p:cNvSpPr>
          <p:nvPr/>
        </p:nvSpPr>
        <p:spPr>
          <a:xfrm xmlns:a="http://schemas.openxmlformats.org/drawingml/2006/main">
            <a:off x="8572500" y="2047875"/>
            <a:ext cx="2857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E7F35A"/>
                </a:solidFill>
                <a:latin typeface="Calibri"/>
                <a:ea typeface="Calibri"/>
                <a:cs typeface="Calibri"/>
              </a:defRPr>
            </a:defPPr>
          </a:lstStyle>
          <a:p xmlns:a="http://schemas.openxmlformats.org/drawingml/2006/main">
            <a:pPr>
              <a:defRPr sz="2550" b="1">
                <a:solidFill>
                  <a:srgbClr val="E7F35A"/>
                </a:solidFill>
                <a:latin typeface="Calibri"/>
                <a:ea typeface="Calibri"/>
                <a:cs typeface="Calibri"/>
              </a:defRPr>
            </a:pPr>
            <a:r>
              <a:rPr sz="2550" b="1">
                <a:solidFill>
                  <a:srgbClr val="E7F35A"/>
                </a:solidFill>
                <a:latin typeface="Calibri"/>
                <a:ea typeface="Calibri"/>
                <a:cs typeface="Calibri"/>
              </a:rPr>
              <a:t>5 of 9 require strict data privacy controls</a:t>
            </a:r>
          </a:p>
        </p:txBody>
      </p:sp>
      <p:sp>
        <p:nvSpPr>
          <p:cNvPr id="6" name="">
            <a:extLst xmlns:a="http://schemas.openxmlformats.org/drawingml/2006/main">
              <a:ext uri="{FF2B5EF4-FFF2-40B4-BE49-F238E27FC236}">
                <a16:creationId xmlns:a16="http://schemas.microsoft.com/office/drawing/2014/main" id="{A82E854B-916F-44E8-9D94-DDDD33EB22A9}"/>
              </a:ext>
            </a:extLst>
          </p:cNvPr>
          <p:cNvSpPr>
            <a:spLocks xmlns:a="http://schemas.openxmlformats.org/drawingml/2006/main" noGrp="1"/>
          </p:cNvSpPr>
          <p:nvPr/>
        </p:nvSpPr>
        <p:spPr>
          <a:xfrm xmlns:a="http://schemas.openxmlformats.org/drawingml/2006/main">
            <a:off x="8572500" y="4210050"/>
            <a:ext cx="2857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AEB6B4"/>
                </a:solidFill>
                <a:latin typeface="Calibri"/>
                <a:ea typeface="Calibri"/>
                <a:cs typeface="Calibri"/>
              </a:defRPr>
            </a:defPPr>
          </a:lstStyle>
          <a:p xmlns:a="http://schemas.openxmlformats.org/drawingml/2006/main">
            <a:pPr>
              <a:defRPr sz="2025" b="0">
                <a:solidFill>
                  <a:srgbClr val="AEB6B4"/>
                </a:solidFill>
                <a:latin typeface="Calibri"/>
                <a:ea typeface="Calibri"/>
                <a:cs typeface="Calibri"/>
              </a:defRPr>
            </a:pPr>
            <a:r>
              <a:rPr sz="2025" b="0">
                <a:solidFill>
                  <a:srgbClr val="AEB6B4"/>
                </a:solidFill>
                <a:latin typeface="Calibri"/>
                <a:ea typeface="Calibri"/>
                <a:cs typeface="Calibri"/>
              </a:rPr>
              <a:t>Compare local servers and cloud in a pilot</a:t>
            </a:r>
          </a:p>
        </p:txBody>
      </p:sp>
    </p:spTree>
    <p:extLst>
      <p:ext uri="{BB962C8B-B14F-4D97-AF65-F5344CB8AC3E}">
        <p14:creationId xmlns:p14="http://schemas.microsoft.com/office/powerpoint/2010/main" val="349823029"/>
      </p:ext>
    </p:extLst>
  </p:cSld>
</p:sld>
</file>

<file path=ppt/slides/slide8.xml><?xml version="1.0" encoding="utf-8"?>
<p:sld xmlns:p="http://schemas.openxmlformats.org/presentationml/2006/main">
  <p:cSld>
    <p:bg>
      <p:bgPr>
        <a:solidFill xmlns:a="http://schemas.openxmlformats.org/drawingml/2006/main">
          <a:srgbClr val="080B0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978BF51-5713-441A-8D4D-869F77251E15}"/>
              </a:ext>
            </a:extLst>
          </p:cNvPr>
          <p:cNvSpPr>
            <a:spLocks xmlns:a="http://schemas.openxmlformats.org/drawingml/2006/main" noGrp="1"/>
          </p:cNvSpPr>
          <p:nvPr/>
        </p:nvSpPr>
        <p:spPr>
          <a:xfrm xmlns:a="http://schemas.openxmlformats.org/drawingml/2006/main">
            <a:off x="619125" y="4476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E7F35A"/>
                </a:solidFill>
                <a:latin typeface="Calibri"/>
                <a:ea typeface="Calibri"/>
                <a:cs typeface="Calibri"/>
              </a:defRPr>
            </a:defPPr>
          </a:lstStyle>
          <a:p xmlns:a="http://schemas.openxmlformats.org/drawingml/2006/main">
            <a:pPr>
              <a:defRPr sz="3300" b="1">
                <a:solidFill>
                  <a:srgbClr val="E7F35A"/>
                </a:solidFill>
                <a:latin typeface="Calibri"/>
                <a:ea typeface="Calibri"/>
                <a:cs typeface="Calibri"/>
              </a:defRPr>
            </a:pPr>
            <a:r>
              <a:rPr sz="3300" b="1">
                <a:solidFill>
                  <a:srgbClr val="E7F35A"/>
                </a:solidFill>
                <a:latin typeface="Calibri"/>
                <a:ea typeface="Calibri"/>
                <a:cs typeface="Calibri"/>
              </a:rPr>
              <a:t>Interview findings</a:t>
            </a:r>
          </a:p>
        </p:txBody>
      </p:sp>
      <p:sp>
        <p:nvSpPr>
          <p:cNvPr id="2" name="">
            <a:extLst xmlns:a="http://schemas.openxmlformats.org/drawingml/2006/main">
              <a:ext uri="{FF2B5EF4-FFF2-40B4-BE49-F238E27FC236}">
                <a16:creationId xmlns:a16="http://schemas.microsoft.com/office/drawing/2014/main" id="{481EA505-4AEE-4CF7-AA85-3FA3C7A9EFD7}"/>
              </a:ext>
            </a:extLst>
          </p:cNvPr>
          <p:cNvSpPr>
            <a:spLocks xmlns:a="http://schemas.openxmlformats.org/drawingml/2006/main" noGrp="1"/>
          </p:cNvSpPr>
          <p:nvPr/>
        </p:nvSpPr>
        <p:spPr>
          <a:xfrm xmlns:a="http://schemas.openxmlformats.org/drawingml/2006/main">
            <a:off x="619125" y="621030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EB6B4"/>
                </a:solidFill>
                <a:latin typeface="Calibri"/>
                <a:ea typeface="Calibri"/>
                <a:cs typeface="Calibri"/>
              </a:defRPr>
            </a:defPPr>
          </a:lstStyle>
          <a:p xmlns:a="http://schemas.openxmlformats.org/drawingml/2006/main">
            <a:pPr>
              <a:defRPr sz="1200" b="0">
                <a:solidFill>
                  <a:srgbClr val="AEB6B4"/>
                </a:solidFill>
                <a:latin typeface="Calibri"/>
                <a:ea typeface="Calibri"/>
                <a:cs typeface="Calibri"/>
              </a:defRPr>
            </a:pPr>
            <a:r>
              <a:rPr sz="1200" b="0">
                <a:solidFill>
                  <a:srgbClr val="AEB6B4"/>
                </a:solidFill>
                <a:latin typeface="Calibri"/>
                <a:ea typeface="Calibri"/>
                <a:cs typeface="Calibri"/>
              </a:rPr>
              <a:t>Sources: I01 03:32–04:12, I02 01:48–02:20, I03 12:00–13:17 and 15:15–17:17.</a:t>
            </a:r>
          </a:p>
        </p:txBody>
      </p:sp>
      <p:sp>
        <p:nvSpPr>
          <p:cNvPr id="3" name="">
            <a:extLst xmlns:a="http://schemas.openxmlformats.org/drawingml/2006/main">
              <a:ext uri="{FF2B5EF4-FFF2-40B4-BE49-F238E27FC236}">
                <a16:creationId xmlns:a16="http://schemas.microsoft.com/office/drawing/2014/main" id="{124078A6-4E5A-45B1-ADAB-2DF847F05FBD}"/>
              </a:ext>
            </a:extLst>
          </p:cNvPr>
          <p:cNvSpPr>
            <a:spLocks xmlns:a="http://schemas.openxmlformats.org/drawingml/2006/main" noGrp="1"/>
          </p:cNvSpPr>
          <p:nvPr/>
        </p:nvSpPr>
        <p:spPr>
          <a:xfrm xmlns:a="http://schemas.openxmlformats.org/drawingml/2006/main">
            <a:off x="666750" y="165735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58DDCD"/>
                </a:solidFill>
                <a:latin typeface="Calibri"/>
                <a:ea typeface="Calibri"/>
                <a:cs typeface="Calibri"/>
              </a:defRPr>
            </a:defPPr>
          </a:lstStyle>
          <a:p xmlns:a="http://schemas.openxmlformats.org/drawingml/2006/main">
            <a:pPr>
              <a:defRPr sz="2175" b="1">
                <a:solidFill>
                  <a:srgbClr val="58DDCD"/>
                </a:solidFill>
                <a:latin typeface="Calibri"/>
                <a:ea typeface="Calibri"/>
                <a:cs typeface="Calibri"/>
              </a:defRPr>
            </a:pPr>
            <a:r>
              <a:rPr sz="2175" b="1">
                <a:solidFill>
                  <a:srgbClr val="58DDCD"/>
                </a:solidFill>
                <a:latin typeface="Calibri"/>
                <a:ea typeface="Calibri"/>
                <a:cs typeface="Calibri"/>
              </a:rPr>
              <a:t>I01</a:t>
            </a:r>
          </a:p>
        </p:txBody>
      </p:sp>
      <p:sp>
        <p:nvSpPr>
          <p:cNvPr id="4" name="">
            <a:extLst xmlns:a="http://schemas.openxmlformats.org/drawingml/2006/main">
              <a:ext uri="{FF2B5EF4-FFF2-40B4-BE49-F238E27FC236}">
                <a16:creationId xmlns:a16="http://schemas.microsoft.com/office/drawing/2014/main" id="{201EA81C-D717-49D7-A444-73984C711AF3}"/>
              </a:ext>
            </a:extLst>
          </p:cNvPr>
          <p:cNvSpPr>
            <a:spLocks xmlns:a="http://schemas.openxmlformats.org/drawingml/2006/main" noGrp="1"/>
          </p:cNvSpPr>
          <p:nvPr/>
        </p:nvSpPr>
        <p:spPr>
          <a:xfrm xmlns:a="http://schemas.openxmlformats.org/drawingml/2006/main">
            <a:off x="666750" y="2238375"/>
            <a:ext cx="342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F4F4ED"/>
                </a:solidFill>
                <a:latin typeface="Calibri"/>
                <a:ea typeface="Calibri"/>
                <a:cs typeface="Calibri"/>
              </a:defRPr>
            </a:defPPr>
          </a:lstStyle>
          <a:p xmlns:a="http://schemas.openxmlformats.org/drawingml/2006/main">
            <a:pPr>
              <a:defRPr sz="2250" b="1">
                <a:solidFill>
                  <a:srgbClr val="F4F4ED"/>
                </a:solidFill>
                <a:latin typeface="Calibri"/>
                <a:ea typeface="Calibri"/>
                <a:cs typeface="Calibri"/>
              </a:defRPr>
            </a:pPr>
            <a:r>
              <a:rPr sz="2250" b="1">
                <a:solidFill>
                  <a:srgbClr val="F4F4ED"/>
                </a:solidFill>
                <a:latin typeface="Calibri"/>
                <a:ea typeface="Calibri"/>
                <a:cs typeface="Calibri"/>
              </a:rPr>
              <a:t>Mobile game director</a:t>
            </a:r>
          </a:p>
        </p:txBody>
      </p:sp>
      <p:sp>
        <p:nvSpPr>
          <p:cNvPr id="5" name="">
            <a:extLst xmlns:a="http://schemas.openxmlformats.org/drawingml/2006/main">
              <a:ext uri="{FF2B5EF4-FFF2-40B4-BE49-F238E27FC236}">
                <a16:creationId xmlns:a16="http://schemas.microsoft.com/office/drawing/2014/main" id="{3E8BB63A-25A9-4A28-A403-C3E4B97CF12B}"/>
              </a:ext>
            </a:extLst>
          </p:cNvPr>
          <p:cNvSpPr>
            <a:spLocks xmlns:a="http://schemas.openxmlformats.org/drawingml/2006/main" noGrp="1"/>
          </p:cNvSpPr>
          <p:nvPr/>
        </p:nvSpPr>
        <p:spPr>
          <a:xfrm xmlns:a="http://schemas.openxmlformats.org/drawingml/2006/main">
            <a:off x="666750" y="3362325"/>
            <a:ext cx="3429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4F4ED"/>
                </a:solidFill>
                <a:latin typeface="Calibri"/>
                <a:ea typeface="Calibri"/>
                <a:cs typeface="Calibri"/>
              </a:defRPr>
            </a:defPPr>
          </a:lstStyle>
          <a:p xmlns:a="http://schemas.openxmlformats.org/drawingml/2006/main">
            <a:pPr>
              <a:defRPr sz="2100" b="0">
                <a:solidFill>
                  <a:srgbClr val="F4F4ED"/>
                </a:solidFill>
                <a:latin typeface="Calibri"/>
                <a:ea typeface="Calibri"/>
                <a:cs typeface="Calibri"/>
              </a:defRPr>
            </a:pPr>
            <a:r>
              <a:rPr sz="2100" b="0">
                <a:solidFill>
                  <a:srgbClr val="F4F4ED"/>
                </a:solidFill>
                <a:latin typeface="Calibri"/>
                <a:ea typeface="Calibri"/>
                <a:cs typeface="Calibri"/>
              </a:rPr>
              <a:t>Main problem: game money and ammunition</a:t>
            </a:r>
          </a:p>
        </p:txBody>
      </p:sp>
      <p:sp>
        <p:nvSpPr>
          <p:cNvPr id="6" name="">
            <a:extLst xmlns:a="http://schemas.openxmlformats.org/drawingml/2006/main">
              <a:ext uri="{FF2B5EF4-FFF2-40B4-BE49-F238E27FC236}">
                <a16:creationId xmlns:a16="http://schemas.microsoft.com/office/drawing/2014/main" id="{60CCD8BA-488F-4DB4-BFE7-0CCAF519CF14}"/>
              </a:ext>
            </a:extLst>
          </p:cNvPr>
          <p:cNvSpPr>
            <a:spLocks xmlns:a="http://schemas.openxmlformats.org/drawingml/2006/main" noGrp="1"/>
          </p:cNvSpPr>
          <p:nvPr/>
        </p:nvSpPr>
        <p:spPr>
          <a:xfrm xmlns:a="http://schemas.openxmlformats.org/drawingml/2006/main">
            <a:off x="666750" y="4648200"/>
            <a:ext cx="3429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8DDCD"/>
                </a:solidFill>
                <a:latin typeface="Calibri"/>
                <a:ea typeface="Calibri"/>
                <a:cs typeface="Calibri"/>
              </a:defRPr>
            </a:defPPr>
          </a:lstStyle>
          <a:p xmlns:a="http://schemas.openxmlformats.org/drawingml/2006/main">
            <a:pPr>
              <a:defRPr sz="1950" b="0">
                <a:solidFill>
                  <a:srgbClr val="58DDCD"/>
                </a:solidFill>
                <a:latin typeface="Calibri"/>
                <a:ea typeface="Calibri"/>
                <a:cs typeface="Calibri"/>
              </a:defRPr>
            </a:pPr>
            <a:r>
              <a:rPr sz="1950" b="0">
                <a:solidFill>
                  <a:srgbClr val="58DDCD"/>
                </a:solidFill>
                <a:latin typeface="Calibri"/>
                <a:ea typeface="Calibri"/>
                <a:cs typeface="Calibri"/>
              </a:rPr>
              <a:t>Limited fit for our aiming product</a:t>
            </a:r>
          </a:p>
        </p:txBody>
      </p:sp>
      <p:sp>
        <p:nvSpPr>
          <p:cNvPr id="7" name="">
            <a:extLst xmlns:a="http://schemas.openxmlformats.org/drawingml/2006/main">
              <a:ext uri="{FF2B5EF4-FFF2-40B4-BE49-F238E27FC236}">
                <a16:creationId xmlns:a16="http://schemas.microsoft.com/office/drawing/2014/main" id="{18164135-D851-40C1-AFC1-6E807884C966}"/>
              </a:ext>
            </a:extLst>
          </p:cNvPr>
          <p:cNvSpPr>
            <a:spLocks xmlns:a="http://schemas.openxmlformats.org/drawingml/2006/main" noGrp="1"/>
          </p:cNvSpPr>
          <p:nvPr/>
        </p:nvSpPr>
        <p:spPr>
          <a:xfrm xmlns:a="http://schemas.openxmlformats.org/drawingml/2006/main">
            <a:off x="4410075" y="165735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58DDCD"/>
                </a:solidFill>
                <a:latin typeface="Calibri"/>
                <a:ea typeface="Calibri"/>
                <a:cs typeface="Calibri"/>
              </a:defRPr>
            </a:defPPr>
          </a:lstStyle>
          <a:p xmlns:a="http://schemas.openxmlformats.org/drawingml/2006/main">
            <a:pPr>
              <a:defRPr sz="2175" b="1">
                <a:solidFill>
                  <a:srgbClr val="58DDCD"/>
                </a:solidFill>
                <a:latin typeface="Calibri"/>
                <a:ea typeface="Calibri"/>
                <a:cs typeface="Calibri"/>
              </a:defRPr>
            </a:pPr>
            <a:r>
              <a:rPr sz="2175" b="1">
                <a:solidFill>
                  <a:srgbClr val="58DDCD"/>
                </a:solidFill>
                <a:latin typeface="Calibri"/>
                <a:ea typeface="Calibri"/>
                <a:cs typeface="Calibri"/>
              </a:rPr>
              <a:t>I02</a:t>
            </a:r>
          </a:p>
        </p:txBody>
      </p:sp>
      <p:sp>
        <p:nvSpPr>
          <p:cNvPr id="8" name="">
            <a:extLst xmlns:a="http://schemas.openxmlformats.org/drawingml/2006/main">
              <a:ext uri="{FF2B5EF4-FFF2-40B4-BE49-F238E27FC236}">
                <a16:creationId xmlns:a16="http://schemas.microsoft.com/office/drawing/2014/main" id="{BC824BB2-7BF9-4540-8E6B-E5ADE48E9C5C}"/>
              </a:ext>
            </a:extLst>
          </p:cNvPr>
          <p:cNvSpPr>
            <a:spLocks xmlns:a="http://schemas.openxmlformats.org/drawingml/2006/main" noGrp="1"/>
          </p:cNvSpPr>
          <p:nvPr/>
        </p:nvSpPr>
        <p:spPr>
          <a:xfrm xmlns:a="http://schemas.openxmlformats.org/drawingml/2006/main">
            <a:off x="4410075" y="2238375"/>
            <a:ext cx="342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F4F4ED"/>
                </a:solidFill>
                <a:latin typeface="Calibri"/>
                <a:ea typeface="Calibri"/>
                <a:cs typeface="Calibri"/>
              </a:defRPr>
            </a:defPPr>
          </a:lstStyle>
          <a:p xmlns:a="http://schemas.openxmlformats.org/drawingml/2006/main">
            <a:pPr>
              <a:defRPr sz="2250" b="1">
                <a:solidFill>
                  <a:srgbClr val="F4F4ED"/>
                </a:solidFill>
                <a:latin typeface="Calibri"/>
                <a:ea typeface="Calibri"/>
                <a:cs typeface="Calibri"/>
              </a:defRPr>
            </a:pPr>
            <a:r>
              <a:rPr sz="2250" b="1">
                <a:solidFill>
                  <a:srgbClr val="F4F4ED"/>
                </a:solidFill>
                <a:latin typeface="Calibri"/>
                <a:ea typeface="Calibri"/>
                <a:cs typeface="Calibri"/>
              </a:rPr>
              <a:t>Independent developer</a:t>
            </a:r>
          </a:p>
        </p:txBody>
      </p:sp>
      <p:sp>
        <p:nvSpPr>
          <p:cNvPr id="9" name="">
            <a:extLst xmlns:a="http://schemas.openxmlformats.org/drawingml/2006/main">
              <a:ext uri="{FF2B5EF4-FFF2-40B4-BE49-F238E27FC236}">
                <a16:creationId xmlns:a16="http://schemas.microsoft.com/office/drawing/2014/main" id="{469B0C1B-03DF-43D3-89C0-629EC2623D90}"/>
              </a:ext>
            </a:extLst>
          </p:cNvPr>
          <p:cNvSpPr>
            <a:spLocks xmlns:a="http://schemas.openxmlformats.org/drawingml/2006/main" noGrp="1"/>
          </p:cNvSpPr>
          <p:nvPr/>
        </p:nvSpPr>
        <p:spPr>
          <a:xfrm xmlns:a="http://schemas.openxmlformats.org/drawingml/2006/main">
            <a:off x="4410075" y="3362325"/>
            <a:ext cx="3429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4F4ED"/>
                </a:solidFill>
                <a:latin typeface="Calibri"/>
                <a:ea typeface="Calibri"/>
                <a:cs typeface="Calibri"/>
              </a:defRPr>
            </a:defPPr>
          </a:lstStyle>
          <a:p xmlns:a="http://schemas.openxmlformats.org/drawingml/2006/main">
            <a:pPr>
              <a:defRPr sz="2100" b="0">
                <a:solidFill>
                  <a:srgbClr val="F4F4ED"/>
                </a:solidFill>
                <a:latin typeface="Calibri"/>
                <a:ea typeface="Calibri"/>
                <a:cs typeface="Calibri"/>
              </a:defRPr>
            </a:pPr>
            <a:r>
              <a:rPr sz="2100" b="0">
                <a:solidFill>
                  <a:srgbClr val="F4F4ED"/>
                </a:solidFill>
                <a:latin typeface="Calibri"/>
                <a:ea typeface="Calibri"/>
                <a:cs typeface="Calibri"/>
              </a:rPr>
              <a:t>Checked logs after wrong score rejection</a:t>
            </a:r>
          </a:p>
        </p:txBody>
      </p:sp>
      <p:sp>
        <p:nvSpPr>
          <p:cNvPr id="10" name="">
            <a:extLst xmlns:a="http://schemas.openxmlformats.org/drawingml/2006/main">
              <a:ext uri="{FF2B5EF4-FFF2-40B4-BE49-F238E27FC236}">
                <a16:creationId xmlns:a16="http://schemas.microsoft.com/office/drawing/2014/main" id="{6FCBB21C-B0DC-45D5-AAB0-B0B15B002557}"/>
              </a:ext>
            </a:extLst>
          </p:cNvPr>
          <p:cNvSpPr>
            <a:spLocks xmlns:a="http://schemas.openxmlformats.org/drawingml/2006/main" noGrp="1"/>
          </p:cNvSpPr>
          <p:nvPr/>
        </p:nvSpPr>
        <p:spPr>
          <a:xfrm xmlns:a="http://schemas.openxmlformats.org/drawingml/2006/main">
            <a:off x="4410075" y="4648200"/>
            <a:ext cx="3429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8DDCD"/>
                </a:solidFill>
                <a:latin typeface="Calibri"/>
                <a:ea typeface="Calibri"/>
                <a:cs typeface="Calibri"/>
              </a:defRPr>
            </a:defPPr>
          </a:lstStyle>
          <a:p xmlns:a="http://schemas.openxmlformats.org/drawingml/2006/main">
            <a:pPr>
              <a:defRPr sz="1950" b="0">
                <a:solidFill>
                  <a:srgbClr val="58DDCD"/>
                </a:solidFill>
                <a:latin typeface="Calibri"/>
                <a:ea typeface="Calibri"/>
                <a:cs typeface="Calibri"/>
              </a:defRPr>
            </a:pPr>
            <a:r>
              <a:rPr sz="1950" b="0">
                <a:solidFill>
                  <a:srgbClr val="58DDCD"/>
                </a:solidFill>
                <a:latin typeface="Calibri"/>
                <a:ea typeface="Calibri"/>
                <a:cs typeface="Calibri"/>
              </a:rPr>
              <a:t>Reliable checks and integration control matter</a:t>
            </a:r>
          </a:p>
        </p:txBody>
      </p:sp>
      <p:sp>
        <p:nvSpPr>
          <p:cNvPr id="11" name="">
            <a:extLst xmlns:a="http://schemas.openxmlformats.org/drawingml/2006/main">
              <a:ext uri="{FF2B5EF4-FFF2-40B4-BE49-F238E27FC236}">
                <a16:creationId xmlns:a16="http://schemas.microsoft.com/office/drawing/2014/main" id="{4CF43C24-E7DB-45E7-9D04-A8FB2A2673BE}"/>
              </a:ext>
            </a:extLst>
          </p:cNvPr>
          <p:cNvSpPr>
            <a:spLocks xmlns:a="http://schemas.openxmlformats.org/drawingml/2006/main" noGrp="1"/>
          </p:cNvSpPr>
          <p:nvPr/>
        </p:nvSpPr>
        <p:spPr>
          <a:xfrm xmlns:a="http://schemas.openxmlformats.org/drawingml/2006/main">
            <a:off x="8153400" y="165735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58DDCD"/>
                </a:solidFill>
                <a:latin typeface="Calibri"/>
                <a:ea typeface="Calibri"/>
                <a:cs typeface="Calibri"/>
              </a:defRPr>
            </a:defPPr>
          </a:lstStyle>
          <a:p xmlns:a="http://schemas.openxmlformats.org/drawingml/2006/main">
            <a:pPr>
              <a:defRPr sz="2175" b="1">
                <a:solidFill>
                  <a:srgbClr val="58DDCD"/>
                </a:solidFill>
                <a:latin typeface="Calibri"/>
                <a:ea typeface="Calibri"/>
                <a:cs typeface="Calibri"/>
              </a:defRPr>
            </a:pPr>
            <a:r>
              <a:rPr sz="2175" b="1">
                <a:solidFill>
                  <a:srgbClr val="58DDCD"/>
                </a:solidFill>
                <a:latin typeface="Calibri"/>
                <a:ea typeface="Calibri"/>
                <a:cs typeface="Calibri"/>
              </a:rPr>
              <a:t>I03</a:t>
            </a:r>
          </a:p>
        </p:txBody>
      </p:sp>
      <p:sp>
        <p:nvSpPr>
          <p:cNvPr id="12" name="">
            <a:extLst xmlns:a="http://schemas.openxmlformats.org/drawingml/2006/main">
              <a:ext uri="{FF2B5EF4-FFF2-40B4-BE49-F238E27FC236}">
                <a16:creationId xmlns:a16="http://schemas.microsoft.com/office/drawing/2014/main" id="{71D6C80A-C69C-4DDB-B267-57536D9B05DB}"/>
              </a:ext>
            </a:extLst>
          </p:cNvPr>
          <p:cNvSpPr>
            <a:spLocks xmlns:a="http://schemas.openxmlformats.org/drawingml/2006/main" noGrp="1"/>
          </p:cNvSpPr>
          <p:nvPr/>
        </p:nvSpPr>
        <p:spPr>
          <a:xfrm xmlns:a="http://schemas.openxmlformats.org/drawingml/2006/main">
            <a:off x="8153400" y="2238375"/>
            <a:ext cx="342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F4F4ED"/>
                </a:solidFill>
                <a:latin typeface="Calibri"/>
                <a:ea typeface="Calibri"/>
                <a:cs typeface="Calibri"/>
              </a:defRPr>
            </a:defPPr>
          </a:lstStyle>
          <a:p xmlns:a="http://schemas.openxmlformats.org/drawingml/2006/main">
            <a:pPr>
              <a:defRPr sz="2250" b="1">
                <a:solidFill>
                  <a:srgbClr val="F4F4ED"/>
                </a:solidFill>
                <a:latin typeface="Calibri"/>
                <a:ea typeface="Calibri"/>
                <a:cs typeface="Calibri"/>
              </a:defRPr>
            </a:pPr>
            <a:r>
              <a:rPr sz="2250" b="1">
                <a:solidFill>
                  <a:srgbClr val="F4F4ED"/>
                </a:solidFill>
                <a:latin typeface="Calibri"/>
                <a:ea typeface="Calibri"/>
                <a:cs typeface="Calibri"/>
              </a:rPr>
              <a:t>Developer with server experience</a:t>
            </a:r>
          </a:p>
        </p:txBody>
      </p:sp>
      <p:sp>
        <p:nvSpPr>
          <p:cNvPr id="13" name="">
            <a:extLst xmlns:a="http://schemas.openxmlformats.org/drawingml/2006/main">
              <a:ext uri="{FF2B5EF4-FFF2-40B4-BE49-F238E27FC236}">
                <a16:creationId xmlns:a16="http://schemas.microsoft.com/office/drawing/2014/main" id="{3B85FF30-883C-4468-8372-5DE4CC42C19E}"/>
              </a:ext>
            </a:extLst>
          </p:cNvPr>
          <p:cNvSpPr>
            <a:spLocks xmlns:a="http://schemas.openxmlformats.org/drawingml/2006/main" noGrp="1"/>
          </p:cNvSpPr>
          <p:nvPr/>
        </p:nvSpPr>
        <p:spPr>
          <a:xfrm xmlns:a="http://schemas.openxmlformats.org/drawingml/2006/main">
            <a:off x="8153400" y="3362325"/>
            <a:ext cx="3429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4F4ED"/>
                </a:solidFill>
                <a:latin typeface="Calibri"/>
                <a:ea typeface="Calibri"/>
                <a:cs typeface="Calibri"/>
              </a:defRPr>
            </a:defPPr>
          </a:lstStyle>
          <a:p xmlns:a="http://schemas.openxmlformats.org/drawingml/2006/main">
            <a:pPr>
              <a:defRPr sz="2100" b="0">
                <a:solidFill>
                  <a:srgbClr val="F4F4ED"/>
                </a:solidFill>
                <a:latin typeface="Calibri"/>
                <a:ea typeface="Calibri"/>
                <a:cs typeface="Calibri"/>
              </a:defRPr>
            </a:pPr>
            <a:r>
              <a:rPr sz="2100" b="0">
                <a:solidFill>
                  <a:srgbClr val="F4F4ED"/>
                </a:solidFill>
                <a:latin typeface="Calibri"/>
                <a:ea typeface="Calibri"/>
                <a:cs typeface="Calibri"/>
              </a:rPr>
              <a:t>Data analysis must not stop gameplay</a:t>
            </a:r>
          </a:p>
        </p:txBody>
      </p:sp>
      <p:sp>
        <p:nvSpPr>
          <p:cNvPr id="14" name="">
            <a:extLst xmlns:a="http://schemas.openxmlformats.org/drawingml/2006/main">
              <a:ext uri="{FF2B5EF4-FFF2-40B4-BE49-F238E27FC236}">
                <a16:creationId xmlns:a16="http://schemas.microsoft.com/office/drawing/2014/main" id="{438BB6A4-971D-4649-B739-C0D0E0058653}"/>
              </a:ext>
            </a:extLst>
          </p:cNvPr>
          <p:cNvSpPr>
            <a:spLocks xmlns:a="http://schemas.openxmlformats.org/drawingml/2006/main" noGrp="1"/>
          </p:cNvSpPr>
          <p:nvPr/>
        </p:nvSpPr>
        <p:spPr>
          <a:xfrm xmlns:a="http://schemas.openxmlformats.org/drawingml/2006/main">
            <a:off x="8153400" y="4648200"/>
            <a:ext cx="3429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8DDCD"/>
                </a:solidFill>
                <a:latin typeface="Calibri"/>
                <a:ea typeface="Calibri"/>
                <a:cs typeface="Calibri"/>
              </a:defRPr>
            </a:defPPr>
          </a:lstStyle>
          <a:p xmlns:a="http://schemas.openxmlformats.org/drawingml/2006/main">
            <a:pPr>
              <a:defRPr sz="1950" b="0">
                <a:solidFill>
                  <a:srgbClr val="58DDCD"/>
                </a:solidFill>
                <a:latin typeface="Calibri"/>
                <a:ea typeface="Calibri"/>
                <a:cs typeface="Calibri"/>
              </a:defRPr>
            </a:pPr>
            <a:r>
              <a:rPr sz="1950" b="0">
                <a:solidFill>
                  <a:srgbClr val="58DDCD"/>
                </a:solidFill>
                <a:latin typeface="Calibri"/>
                <a:ea typeface="Calibri"/>
                <a:cs typeface="Calibri"/>
              </a:rPr>
              <a:t>Measure extra load and handle failures</a:t>
            </a:r>
          </a:p>
        </p:txBody>
      </p:sp>
    </p:spTree>
    <p:extLst>
      <p:ext uri="{BB962C8B-B14F-4D97-AF65-F5344CB8AC3E}">
        <p14:creationId xmlns:p14="http://schemas.microsoft.com/office/powerpoint/2010/main" val="1173046510"/>
      </p:ext>
    </p:extLst>
  </p:cSld>
</p:sld>
</file>

<file path=ppt/slides/slide9.xml><?xml version="1.0" encoding="utf-8"?>
<p:sld xmlns:p="http://schemas.openxmlformats.org/presentationml/2006/main">
  <p:cSld>
    <p:bg>
      <p:bgPr>
        <a:solidFill xmlns:a="http://schemas.openxmlformats.org/drawingml/2006/main">
          <a:srgbClr val="080B0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A7766D-1B46-44E5-90FD-A8B7BE1A1648}"/>
              </a:ext>
            </a:extLst>
          </p:cNvPr>
          <p:cNvSpPr>
            <a:spLocks xmlns:a="http://schemas.openxmlformats.org/drawingml/2006/main" noGrp="1"/>
          </p:cNvSpPr>
          <p:nvPr/>
        </p:nvSpPr>
        <p:spPr>
          <a:xfrm xmlns:a="http://schemas.openxmlformats.org/drawingml/2006/main">
            <a:off x="619125" y="4476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E7F35A"/>
                </a:solidFill>
                <a:latin typeface="Calibri"/>
                <a:ea typeface="Calibri"/>
                <a:cs typeface="Calibri"/>
              </a:defRPr>
            </a:defPPr>
          </a:lstStyle>
          <a:p xmlns:a="http://schemas.openxmlformats.org/drawingml/2006/main">
            <a:pPr>
              <a:defRPr sz="3300" b="1">
                <a:solidFill>
                  <a:srgbClr val="E7F35A"/>
                </a:solidFill>
                <a:latin typeface="Calibri"/>
                <a:ea typeface="Calibri"/>
                <a:cs typeface="Calibri"/>
              </a:defRPr>
            </a:pPr>
            <a:r>
              <a:rPr sz="3300" b="1">
                <a:solidFill>
                  <a:srgbClr val="E7F35A"/>
                </a:solidFill>
                <a:latin typeface="Calibri"/>
                <a:ea typeface="Calibri"/>
                <a:cs typeface="Calibri"/>
              </a:rPr>
              <a:t>Changes to the idea</a:t>
            </a:r>
          </a:p>
        </p:txBody>
      </p:sp>
      <p:sp>
        <p:nvSpPr>
          <p:cNvPr id="2" name="">
            <a:extLst xmlns:a="http://schemas.openxmlformats.org/drawingml/2006/main">
              <a:ext uri="{FF2B5EF4-FFF2-40B4-BE49-F238E27FC236}">
                <a16:creationId xmlns:a16="http://schemas.microsoft.com/office/drawing/2014/main" id="{257A4578-2055-416F-8261-F09D52FF69F4}"/>
              </a:ext>
            </a:extLst>
          </p:cNvPr>
          <p:cNvSpPr>
            <a:spLocks xmlns:a="http://schemas.openxmlformats.org/drawingml/2006/main" noGrp="1"/>
          </p:cNvSpPr>
          <p:nvPr/>
        </p:nvSpPr>
        <p:spPr>
          <a:xfrm xmlns:a="http://schemas.openxmlformats.org/drawingml/2006/main">
            <a:off x="619125" y="621030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EB6B4"/>
                </a:solidFill>
                <a:latin typeface="Calibri"/>
                <a:ea typeface="Calibri"/>
                <a:cs typeface="Calibri"/>
              </a:defRPr>
            </a:defPPr>
          </a:lstStyle>
          <a:p xmlns:a="http://schemas.openxmlformats.org/drawingml/2006/main">
            <a:pPr>
              <a:defRPr sz="1200" b="0">
                <a:solidFill>
                  <a:srgbClr val="AEB6B4"/>
                </a:solidFill>
                <a:latin typeface="Calibri"/>
                <a:ea typeface="Calibri"/>
                <a:cs typeface="Calibri"/>
              </a:defRPr>
            </a:pPr>
            <a:r>
              <a:rPr sz="1200" b="0">
                <a:solidFill>
                  <a:srgbClr val="AEB6B4"/>
                </a:solidFill>
                <a:latin typeface="Calibri"/>
                <a:ea typeface="Calibri"/>
                <a:cs typeface="Calibri"/>
              </a:rPr>
              <a:t>Sources: Assignment 2, survey Q16–Q25 and I01–I03.</a:t>
            </a:r>
          </a:p>
        </p:txBody>
      </p:sp>
      <p:sp>
        <p:nvSpPr>
          <p:cNvPr id="3" name="">
            <a:extLst xmlns:a="http://schemas.openxmlformats.org/drawingml/2006/main">
              <a:ext uri="{FF2B5EF4-FFF2-40B4-BE49-F238E27FC236}">
                <a16:creationId xmlns:a16="http://schemas.microsoft.com/office/drawing/2014/main" id="{E10E1ED9-F399-4DFE-8806-B8CF0D029C30}"/>
              </a:ext>
            </a:extLst>
          </p:cNvPr>
          <p:cNvSpPr>
            <a:spLocks xmlns:a="http://schemas.openxmlformats.org/drawingml/2006/main" noGrp="1"/>
          </p:cNvSpPr>
          <p:nvPr/>
        </p:nvSpPr>
        <p:spPr>
          <a:xfrm xmlns:a="http://schemas.openxmlformats.org/drawingml/2006/main">
            <a:off x="666750" y="1676400"/>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4F4ED"/>
                </a:solidFill>
                <a:latin typeface="Calibri"/>
                <a:ea typeface="Calibri"/>
                <a:cs typeface="Calibri"/>
              </a:defRPr>
            </a:defPPr>
          </a:lstStyle>
          <a:p xmlns:a="http://schemas.openxmlformats.org/drawingml/2006/main">
            <a:pPr>
              <a:defRPr sz="2250" b="0">
                <a:solidFill>
                  <a:srgbClr val="F4F4ED"/>
                </a:solidFill>
                <a:latin typeface="Calibri"/>
                <a:ea typeface="Calibri"/>
                <a:cs typeface="Calibri"/>
              </a:defRPr>
            </a:pPr>
            <a:r>
              <a:rPr sz="2250" b="0">
                <a:solidFill>
                  <a:srgbClr val="F4F4ED"/>
                </a:solidFill>
                <a:latin typeface="Calibri"/>
                <a:ea typeface="Calibri"/>
                <a:cs typeface="Calibri"/>
              </a:rPr>
              <a:t>Keep aim analysis beside current anti-cheat</a:t>
            </a:r>
          </a:p>
        </p:txBody>
      </p:sp>
      <p:sp>
        <p:nvSpPr>
          <p:cNvPr id="4" name="">
            <a:extLst xmlns:a="http://schemas.openxmlformats.org/drawingml/2006/main">
              <a:ext uri="{FF2B5EF4-FFF2-40B4-BE49-F238E27FC236}">
                <a16:creationId xmlns:a16="http://schemas.microsoft.com/office/drawing/2014/main" id="{B65B45A1-A2DF-432A-A323-71009FFCED58}"/>
              </a:ext>
            </a:extLst>
          </p:cNvPr>
          <p:cNvSpPr>
            <a:spLocks xmlns:a="http://schemas.openxmlformats.org/drawingml/2006/main" noGrp="1"/>
          </p:cNvSpPr>
          <p:nvPr/>
        </p:nvSpPr>
        <p:spPr>
          <a:xfrm xmlns:a="http://schemas.openxmlformats.org/drawingml/2006/main">
            <a:off x="666750" y="2628900"/>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4F4ED"/>
                </a:solidFill>
                <a:latin typeface="Calibri"/>
                <a:ea typeface="Calibri"/>
                <a:cs typeface="Calibri"/>
              </a:defRPr>
            </a:defPPr>
          </a:lstStyle>
          <a:p xmlns:a="http://schemas.openxmlformats.org/drawingml/2006/main">
            <a:pPr>
              <a:defRPr sz="2250" b="0">
                <a:solidFill>
                  <a:srgbClr val="F4F4ED"/>
                </a:solidFill>
                <a:latin typeface="Calibri"/>
                <a:ea typeface="Calibri"/>
                <a:cs typeface="Calibri"/>
              </a:defRPr>
            </a:pPr>
            <a:r>
              <a:rPr sz="2250" b="0">
                <a:solidFill>
                  <a:srgbClr val="F4F4ED"/>
                </a:solidFill>
                <a:latin typeface="Calibri"/>
                <a:ea typeface="Calibri"/>
                <a:cs typeface="Calibri"/>
              </a:rPr>
              <a:t>Show event evidence and save review decisions</a:t>
            </a:r>
          </a:p>
        </p:txBody>
      </p:sp>
      <p:sp>
        <p:nvSpPr>
          <p:cNvPr id="5" name="">
            <a:extLst xmlns:a="http://schemas.openxmlformats.org/drawingml/2006/main">
              <a:ext uri="{FF2B5EF4-FFF2-40B4-BE49-F238E27FC236}">
                <a16:creationId xmlns:a16="http://schemas.microsoft.com/office/drawing/2014/main" id="{5243C4FE-7E13-4034-AD93-3D38A27D34B7}"/>
              </a:ext>
            </a:extLst>
          </p:cNvPr>
          <p:cNvSpPr>
            <a:spLocks xmlns:a="http://schemas.openxmlformats.org/drawingml/2006/main" noGrp="1"/>
          </p:cNvSpPr>
          <p:nvPr/>
        </p:nvSpPr>
        <p:spPr>
          <a:xfrm xmlns:a="http://schemas.openxmlformats.org/drawingml/2006/main">
            <a:off x="666750" y="3581400"/>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4F4ED"/>
                </a:solidFill>
                <a:latin typeface="Calibri"/>
                <a:ea typeface="Calibri"/>
                <a:cs typeface="Calibri"/>
              </a:defRPr>
            </a:defPPr>
          </a:lstStyle>
          <a:p xmlns:a="http://schemas.openxmlformats.org/drawingml/2006/main">
            <a:pPr>
              <a:defRPr sz="2250" b="0">
                <a:solidFill>
                  <a:srgbClr val="F4F4ED"/>
                </a:solidFill>
                <a:latin typeface="Calibri"/>
                <a:ea typeface="Calibri"/>
                <a:cs typeface="Calibri"/>
              </a:defRPr>
            </a:pPr>
            <a:r>
              <a:rPr sz="2250" b="0">
                <a:solidFill>
                  <a:srgbClr val="F4F4ED"/>
                </a:solidFill>
                <a:latin typeface="Calibri"/>
                <a:ea typeface="Calibri"/>
                <a:cs typeface="Calibri"/>
              </a:rPr>
              <a:t>Collect only needed data and allow server choice</a:t>
            </a:r>
          </a:p>
        </p:txBody>
      </p:sp>
      <p:sp>
        <p:nvSpPr>
          <p:cNvPr id="6" name="">
            <a:extLst xmlns:a="http://schemas.openxmlformats.org/drawingml/2006/main">
              <a:ext uri="{FF2B5EF4-FFF2-40B4-BE49-F238E27FC236}">
                <a16:creationId xmlns:a16="http://schemas.microsoft.com/office/drawing/2014/main" id="{0E4B008F-F586-4EFC-A425-9BF7D59109C2}"/>
              </a:ext>
            </a:extLst>
          </p:cNvPr>
          <p:cNvSpPr>
            <a:spLocks xmlns:a="http://schemas.openxmlformats.org/drawingml/2006/main" noGrp="1"/>
          </p:cNvSpPr>
          <p:nvPr/>
        </p:nvSpPr>
        <p:spPr>
          <a:xfrm xmlns:a="http://schemas.openxmlformats.org/drawingml/2006/main">
            <a:off x="666750" y="4533900"/>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4F4ED"/>
                </a:solidFill>
                <a:latin typeface="Calibri"/>
                <a:ea typeface="Calibri"/>
                <a:cs typeface="Calibri"/>
              </a:defRPr>
            </a:defPPr>
          </a:lstStyle>
          <a:p xmlns:a="http://schemas.openxmlformats.org/drawingml/2006/main">
            <a:pPr>
              <a:defRPr sz="2250" b="0">
                <a:solidFill>
                  <a:srgbClr val="F4F4ED"/>
                </a:solidFill>
                <a:latin typeface="Calibri"/>
                <a:ea typeface="Calibri"/>
                <a:cs typeface="Calibri"/>
              </a:defRPr>
            </a:pPr>
            <a:r>
              <a:rPr sz="2250" b="0">
                <a:solidFill>
                  <a:srgbClr val="F4F4ED"/>
                </a:solidFill>
                <a:latin typeface="Calibri"/>
                <a:ea typeface="Calibri"/>
                <a:cs typeface="Calibri"/>
              </a:rPr>
              <a:t>Use a limited free pilot before a paid offer</a:t>
            </a:r>
          </a:p>
        </p:txBody>
      </p:sp>
    </p:spTree>
    <p:extLst>
      <p:ext uri="{BB962C8B-B14F-4D97-AF65-F5344CB8AC3E}">
        <p14:creationId xmlns:p14="http://schemas.microsoft.com/office/powerpoint/2010/main" val="2067461971"/>
      </p:ext>
    </p:extLst>
  </p:cSld>
</p:sld>
</file>

<file path=ppt/slides/slide10.xml><?xml version="1.0" encoding="utf-8"?>
<p:sld xmlns:p="http://schemas.openxmlformats.org/presentationml/2006/main">
  <p:cSld>
    <p:bg>
      <p:bgPr>
        <a:solidFill xmlns:a="http://schemas.openxmlformats.org/drawingml/2006/main">
          <a:srgbClr val="080B0C"/>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FFB2D48-8086-45D3-BBC8-0FAA41D786F3}"/>
              </a:ext>
            </a:extLst>
          </p:cNvPr>
          <p:cNvSpPr>
            <a:spLocks xmlns:a="http://schemas.openxmlformats.org/drawingml/2006/main" noGrp="1"/>
          </p:cNvSpPr>
          <p:nvPr/>
        </p:nvSpPr>
        <p:spPr>
          <a:xfrm xmlns:a="http://schemas.openxmlformats.org/drawingml/2006/main">
            <a:off x="619125" y="4476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E7F35A"/>
                </a:solidFill>
                <a:latin typeface="Calibri"/>
                <a:ea typeface="Calibri"/>
                <a:cs typeface="Calibri"/>
              </a:defRPr>
            </a:defPPr>
          </a:lstStyle>
          <a:p xmlns:a="http://schemas.openxmlformats.org/drawingml/2006/main">
            <a:pPr>
              <a:defRPr sz="3300" b="1">
                <a:solidFill>
                  <a:srgbClr val="E7F35A"/>
                </a:solidFill>
                <a:latin typeface="Calibri"/>
                <a:ea typeface="Calibri"/>
                <a:cs typeface="Calibri"/>
              </a:defRPr>
            </a:pPr>
            <a:r>
              <a:rPr sz="3300" b="1">
                <a:solidFill>
                  <a:srgbClr val="E7F35A"/>
                </a:solidFill>
                <a:latin typeface="Calibri"/>
                <a:ea typeface="Calibri"/>
                <a:cs typeface="Calibri"/>
              </a:rPr>
              <a:t>Updated business model</a:t>
            </a:r>
          </a:p>
        </p:txBody>
      </p:sp>
      <p:sp>
        <p:nvSpPr>
          <p:cNvPr id="2" name="">
            <a:extLst xmlns:a="http://schemas.openxmlformats.org/drawingml/2006/main">
              <a:ext uri="{FF2B5EF4-FFF2-40B4-BE49-F238E27FC236}">
                <a16:creationId xmlns:a16="http://schemas.microsoft.com/office/drawing/2014/main" id="{31E84951-C751-4175-9476-EC44677AA6AF}"/>
              </a:ext>
            </a:extLst>
          </p:cNvPr>
          <p:cNvSpPr>
            <a:spLocks xmlns:a="http://schemas.openxmlformats.org/drawingml/2006/main" noGrp="1"/>
          </p:cNvSpPr>
          <p:nvPr/>
        </p:nvSpPr>
        <p:spPr>
          <a:xfrm xmlns:a="http://schemas.openxmlformats.org/drawingml/2006/main">
            <a:off x="619125" y="621030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EB6B4"/>
                </a:solidFill>
                <a:latin typeface="Calibri"/>
                <a:ea typeface="Calibri"/>
                <a:cs typeface="Calibri"/>
              </a:defRPr>
            </a:defPPr>
          </a:lstStyle>
          <a:p xmlns:a="http://schemas.openxmlformats.org/drawingml/2006/main">
            <a:pPr>
              <a:defRPr sz="1200" b="0">
                <a:solidFill>
                  <a:srgbClr val="AEB6B4"/>
                </a:solidFill>
                <a:latin typeface="Calibri"/>
                <a:ea typeface="Calibri"/>
                <a:cs typeface="Calibri"/>
              </a:defRPr>
            </a:pPr>
            <a:r>
              <a:rPr sz="1200" b="0">
                <a:solidFill>
                  <a:srgbClr val="AEB6B4"/>
                </a:solidFill>
                <a:latin typeface="Calibri"/>
                <a:ea typeface="Calibri"/>
                <a:cs typeface="Calibri"/>
              </a:rPr>
              <a:t>Working hypotheses. No confirmed prices or measured service costs.</a:t>
            </a:r>
          </a:p>
        </p:txBody>
      </p:sp>
      <p:sp>
        <p:nvSpPr>
          <p:cNvPr id="3" name="">
            <a:extLst xmlns:a="http://schemas.openxmlformats.org/drawingml/2006/main">
              <a:ext uri="{FF2B5EF4-FFF2-40B4-BE49-F238E27FC236}">
                <a16:creationId xmlns:a16="http://schemas.microsoft.com/office/drawing/2014/main" id="{7F4E245D-8DE1-44D9-BEE7-82BABA83AA48}"/>
              </a:ext>
            </a:extLst>
          </p:cNvPr>
          <p:cNvSpPr>
            <a:spLocks xmlns:a="http://schemas.openxmlformats.org/drawingml/2006/main" noGrp="1"/>
          </p:cNvSpPr>
          <p:nvPr/>
        </p:nvSpPr>
        <p:spPr>
          <a:xfrm xmlns:a="http://schemas.openxmlformats.org/drawingml/2006/main">
            <a:off x="666750" y="156210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58DDCD"/>
                </a:solidFill>
                <a:latin typeface="Calibri"/>
                <a:ea typeface="Calibri"/>
                <a:cs typeface="Calibri"/>
              </a:defRPr>
            </a:defPPr>
          </a:lstStyle>
          <a:p xmlns:a="http://schemas.openxmlformats.org/drawingml/2006/main">
            <a:pPr>
              <a:defRPr sz="1950" b="1">
                <a:solidFill>
                  <a:srgbClr val="58DDCD"/>
                </a:solidFill>
                <a:latin typeface="Calibri"/>
                <a:ea typeface="Calibri"/>
                <a:cs typeface="Calibri"/>
              </a:defRPr>
            </a:pPr>
            <a:r>
              <a:rPr sz="1950" b="1">
                <a:solidFill>
                  <a:srgbClr val="58DDCD"/>
                </a:solidFill>
                <a:latin typeface="Calibri"/>
                <a:ea typeface="Calibri"/>
                <a:cs typeface="Calibri"/>
              </a:rPr>
              <a:t>Customers</a:t>
            </a:r>
          </a:p>
        </p:txBody>
      </p:sp>
      <p:sp>
        <p:nvSpPr>
          <p:cNvPr id="4" name="">
            <a:extLst xmlns:a="http://schemas.openxmlformats.org/drawingml/2006/main">
              <a:ext uri="{FF2B5EF4-FFF2-40B4-BE49-F238E27FC236}">
                <a16:creationId xmlns:a16="http://schemas.microsoft.com/office/drawing/2014/main" id="{B273D57C-385B-416F-AF5D-60E8CE47A217}"/>
              </a:ext>
            </a:extLst>
          </p:cNvPr>
          <p:cNvSpPr>
            <a:spLocks xmlns:a="http://schemas.openxmlformats.org/drawingml/2006/main" noGrp="1"/>
          </p:cNvSpPr>
          <p:nvPr/>
        </p:nvSpPr>
        <p:spPr>
          <a:xfrm xmlns:a="http://schemas.openxmlformats.org/drawingml/2006/main">
            <a:off x="666750" y="2019300"/>
            <a:ext cx="342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4F4ED"/>
                </a:solidFill>
                <a:latin typeface="Calibri"/>
                <a:ea typeface="Calibri"/>
                <a:cs typeface="Calibri"/>
              </a:defRPr>
            </a:defPPr>
          </a:lstStyle>
          <a:p xmlns:a="http://schemas.openxmlformats.org/drawingml/2006/main">
            <a:pPr>
              <a:defRPr sz="1875" b="0">
                <a:solidFill>
                  <a:srgbClr val="F4F4ED"/>
                </a:solidFill>
                <a:latin typeface="Calibri"/>
                <a:ea typeface="Calibri"/>
                <a:cs typeface="Calibri"/>
              </a:defRPr>
            </a:pPr>
            <a:r>
              <a:rPr sz="1875" b="0">
                <a:solidFill>
                  <a:srgbClr val="F4F4ED"/>
                </a:solidFill>
                <a:latin typeface="Calibri"/>
                <a:ea typeface="Calibri"/>
                <a:cs typeface="Calibri"/>
              </a:rPr>
              <a:t>Shooter studios</a:t>
            </a:r>
          </a:p>
        </p:txBody>
      </p:sp>
      <p:sp>
        <p:nvSpPr>
          <p:cNvPr id="5" name="">
            <a:extLst xmlns:a="http://schemas.openxmlformats.org/drawingml/2006/main">
              <a:ext uri="{FF2B5EF4-FFF2-40B4-BE49-F238E27FC236}">
                <a16:creationId xmlns:a16="http://schemas.microsoft.com/office/drawing/2014/main" id="{ACD1D52B-6239-4912-BC46-18BABF15E575}"/>
              </a:ext>
            </a:extLst>
          </p:cNvPr>
          <p:cNvSpPr>
            <a:spLocks xmlns:a="http://schemas.openxmlformats.org/drawingml/2006/main" noGrp="1"/>
          </p:cNvSpPr>
          <p:nvPr/>
        </p:nvSpPr>
        <p:spPr>
          <a:xfrm xmlns:a="http://schemas.openxmlformats.org/drawingml/2006/main">
            <a:off x="4410075" y="156210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58DDCD"/>
                </a:solidFill>
                <a:latin typeface="Calibri"/>
                <a:ea typeface="Calibri"/>
                <a:cs typeface="Calibri"/>
              </a:defRPr>
            </a:defPPr>
          </a:lstStyle>
          <a:p xmlns:a="http://schemas.openxmlformats.org/drawingml/2006/main">
            <a:pPr>
              <a:defRPr sz="1950" b="1">
                <a:solidFill>
                  <a:srgbClr val="58DDCD"/>
                </a:solidFill>
                <a:latin typeface="Calibri"/>
                <a:ea typeface="Calibri"/>
                <a:cs typeface="Calibri"/>
              </a:defRPr>
            </a:pPr>
            <a:r>
              <a:rPr sz="1950" b="1">
                <a:solidFill>
                  <a:srgbClr val="58DDCD"/>
                </a:solidFill>
                <a:latin typeface="Calibri"/>
                <a:ea typeface="Calibri"/>
                <a:cs typeface="Calibri"/>
              </a:rPr>
              <a:t>Value</a:t>
            </a:r>
          </a:p>
        </p:txBody>
      </p:sp>
      <p:sp>
        <p:nvSpPr>
          <p:cNvPr id="6" name="">
            <a:extLst xmlns:a="http://schemas.openxmlformats.org/drawingml/2006/main">
              <a:ext uri="{FF2B5EF4-FFF2-40B4-BE49-F238E27FC236}">
                <a16:creationId xmlns:a16="http://schemas.microsoft.com/office/drawing/2014/main" id="{DAE87DE6-C260-42DE-BD88-9CDD629A1E96}"/>
              </a:ext>
            </a:extLst>
          </p:cNvPr>
          <p:cNvSpPr>
            <a:spLocks xmlns:a="http://schemas.openxmlformats.org/drawingml/2006/main" noGrp="1"/>
          </p:cNvSpPr>
          <p:nvPr/>
        </p:nvSpPr>
        <p:spPr>
          <a:xfrm xmlns:a="http://schemas.openxmlformats.org/drawingml/2006/main">
            <a:off x="4410075" y="2019300"/>
            <a:ext cx="342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4F4ED"/>
                </a:solidFill>
                <a:latin typeface="Calibri"/>
                <a:ea typeface="Calibri"/>
                <a:cs typeface="Calibri"/>
              </a:defRPr>
            </a:defPPr>
          </a:lstStyle>
          <a:p xmlns:a="http://schemas.openxmlformats.org/drawingml/2006/main">
            <a:pPr>
              <a:defRPr sz="1875" b="0">
                <a:solidFill>
                  <a:srgbClr val="F4F4ED"/>
                </a:solidFill>
                <a:latin typeface="Calibri"/>
                <a:ea typeface="Calibri"/>
                <a:cs typeface="Calibri"/>
              </a:defRPr>
            </a:pPr>
            <a:r>
              <a:rPr sz="1875" b="0">
                <a:solidFill>
                  <a:srgbClr val="F4F4ED"/>
                </a:solidFill>
                <a:latin typeface="Calibri"/>
                <a:ea typeface="Calibri"/>
                <a:cs typeface="Calibri"/>
              </a:rPr>
              <a:t>Aim evidence and fair review</a:t>
            </a:r>
          </a:p>
        </p:txBody>
      </p:sp>
      <p:sp>
        <p:nvSpPr>
          <p:cNvPr id="7" name="">
            <a:extLst xmlns:a="http://schemas.openxmlformats.org/drawingml/2006/main">
              <a:ext uri="{FF2B5EF4-FFF2-40B4-BE49-F238E27FC236}">
                <a16:creationId xmlns:a16="http://schemas.microsoft.com/office/drawing/2014/main" id="{A91B7619-890D-457B-8AAC-010CDDD68D0E}"/>
              </a:ext>
            </a:extLst>
          </p:cNvPr>
          <p:cNvSpPr>
            <a:spLocks xmlns:a="http://schemas.openxmlformats.org/drawingml/2006/main" noGrp="1"/>
          </p:cNvSpPr>
          <p:nvPr/>
        </p:nvSpPr>
        <p:spPr>
          <a:xfrm xmlns:a="http://schemas.openxmlformats.org/drawingml/2006/main">
            <a:off x="8153400" y="156210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58DDCD"/>
                </a:solidFill>
                <a:latin typeface="Calibri"/>
                <a:ea typeface="Calibri"/>
                <a:cs typeface="Calibri"/>
              </a:defRPr>
            </a:defPPr>
          </a:lstStyle>
          <a:p xmlns:a="http://schemas.openxmlformats.org/drawingml/2006/main">
            <a:pPr>
              <a:defRPr sz="1950" b="1">
                <a:solidFill>
                  <a:srgbClr val="58DDCD"/>
                </a:solidFill>
                <a:latin typeface="Calibri"/>
                <a:ea typeface="Calibri"/>
                <a:cs typeface="Calibri"/>
              </a:defRPr>
            </a:pPr>
            <a:r>
              <a:rPr sz="1950" b="1">
                <a:solidFill>
                  <a:srgbClr val="58DDCD"/>
                </a:solidFill>
                <a:latin typeface="Calibri"/>
                <a:ea typeface="Calibri"/>
                <a:cs typeface="Calibri"/>
              </a:rPr>
              <a:t>Channels</a:t>
            </a:r>
          </a:p>
        </p:txBody>
      </p:sp>
      <p:sp>
        <p:nvSpPr>
          <p:cNvPr id="8" name="">
            <a:extLst xmlns:a="http://schemas.openxmlformats.org/drawingml/2006/main">
              <a:ext uri="{FF2B5EF4-FFF2-40B4-BE49-F238E27FC236}">
                <a16:creationId xmlns:a16="http://schemas.microsoft.com/office/drawing/2014/main" id="{4AD3FDBC-D92A-4E9C-AF73-6F713766AD52}"/>
              </a:ext>
            </a:extLst>
          </p:cNvPr>
          <p:cNvSpPr>
            <a:spLocks xmlns:a="http://schemas.openxmlformats.org/drawingml/2006/main" noGrp="1"/>
          </p:cNvSpPr>
          <p:nvPr/>
        </p:nvSpPr>
        <p:spPr>
          <a:xfrm xmlns:a="http://schemas.openxmlformats.org/drawingml/2006/main">
            <a:off x="8153400" y="2019300"/>
            <a:ext cx="342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4F4ED"/>
                </a:solidFill>
                <a:latin typeface="Calibri"/>
                <a:ea typeface="Calibri"/>
                <a:cs typeface="Calibri"/>
              </a:defRPr>
            </a:defPPr>
          </a:lstStyle>
          <a:p xmlns:a="http://schemas.openxmlformats.org/drawingml/2006/main">
            <a:pPr>
              <a:defRPr sz="1875" b="0">
                <a:solidFill>
                  <a:srgbClr val="F4F4ED"/>
                </a:solidFill>
                <a:latin typeface="Calibri"/>
                <a:ea typeface="Calibri"/>
                <a:cs typeface="Calibri"/>
              </a:defRPr>
            </a:pPr>
            <a:r>
              <a:rPr sz="1875" b="0">
                <a:solidFill>
                  <a:srgbClr val="F4F4ED"/>
                </a:solidFill>
                <a:latin typeface="Calibri"/>
                <a:ea typeface="Calibri"/>
                <a:cs typeface="Calibri"/>
              </a:rPr>
              <a:t>Developer contacts and guides</a:t>
            </a:r>
          </a:p>
        </p:txBody>
      </p:sp>
      <p:sp>
        <p:nvSpPr>
          <p:cNvPr id="9" name="">
            <a:extLst xmlns:a="http://schemas.openxmlformats.org/drawingml/2006/main">
              <a:ext uri="{FF2B5EF4-FFF2-40B4-BE49-F238E27FC236}">
                <a16:creationId xmlns:a16="http://schemas.microsoft.com/office/drawing/2014/main" id="{B7373A62-AED1-43C9-B150-67C3C2D46B80}"/>
              </a:ext>
            </a:extLst>
          </p:cNvPr>
          <p:cNvSpPr>
            <a:spLocks xmlns:a="http://schemas.openxmlformats.org/drawingml/2006/main" noGrp="1"/>
          </p:cNvSpPr>
          <p:nvPr/>
        </p:nvSpPr>
        <p:spPr>
          <a:xfrm xmlns:a="http://schemas.openxmlformats.org/drawingml/2006/main">
            <a:off x="666750" y="2943225"/>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58DDCD"/>
                </a:solidFill>
                <a:latin typeface="Calibri"/>
                <a:ea typeface="Calibri"/>
                <a:cs typeface="Calibri"/>
              </a:defRPr>
            </a:defPPr>
          </a:lstStyle>
          <a:p xmlns:a="http://schemas.openxmlformats.org/drawingml/2006/main">
            <a:pPr>
              <a:defRPr sz="1950" b="1">
                <a:solidFill>
                  <a:srgbClr val="58DDCD"/>
                </a:solidFill>
                <a:latin typeface="Calibri"/>
                <a:ea typeface="Calibri"/>
                <a:cs typeface="Calibri"/>
              </a:defRPr>
            </a:pPr>
            <a:r>
              <a:rPr sz="1950" b="1">
                <a:solidFill>
                  <a:srgbClr val="58DDCD"/>
                </a:solidFill>
                <a:latin typeface="Calibri"/>
                <a:ea typeface="Calibri"/>
                <a:cs typeface="Calibri"/>
              </a:rPr>
              <a:t>Relationships</a:t>
            </a:r>
          </a:p>
        </p:txBody>
      </p:sp>
      <p:sp>
        <p:nvSpPr>
          <p:cNvPr id="10" name="">
            <a:extLst xmlns:a="http://schemas.openxmlformats.org/drawingml/2006/main">
              <a:ext uri="{FF2B5EF4-FFF2-40B4-BE49-F238E27FC236}">
                <a16:creationId xmlns:a16="http://schemas.microsoft.com/office/drawing/2014/main" id="{2BBD4BA3-F8D4-485D-A6E9-622D8EEAA063}"/>
              </a:ext>
            </a:extLst>
          </p:cNvPr>
          <p:cNvSpPr>
            <a:spLocks xmlns:a="http://schemas.openxmlformats.org/drawingml/2006/main" noGrp="1"/>
          </p:cNvSpPr>
          <p:nvPr/>
        </p:nvSpPr>
        <p:spPr>
          <a:xfrm xmlns:a="http://schemas.openxmlformats.org/drawingml/2006/main">
            <a:off x="666750" y="3400425"/>
            <a:ext cx="342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4F4ED"/>
                </a:solidFill>
                <a:latin typeface="Calibri"/>
                <a:ea typeface="Calibri"/>
                <a:cs typeface="Calibri"/>
              </a:defRPr>
            </a:defPPr>
          </a:lstStyle>
          <a:p xmlns:a="http://schemas.openxmlformats.org/drawingml/2006/main">
            <a:pPr>
              <a:defRPr sz="1875" b="0">
                <a:solidFill>
                  <a:srgbClr val="F4F4ED"/>
                </a:solidFill>
                <a:latin typeface="Calibri"/>
                <a:ea typeface="Calibri"/>
                <a:cs typeface="Calibri"/>
              </a:defRPr>
            </a:pPr>
            <a:r>
              <a:rPr sz="1875" b="0">
                <a:solidFill>
                  <a:srgbClr val="F4F4ED"/>
                </a:solidFill>
                <a:latin typeface="Calibri"/>
                <a:ea typeface="Calibri"/>
                <a:cs typeface="Calibri"/>
              </a:rPr>
              <a:t>Pilot help and support</a:t>
            </a:r>
          </a:p>
        </p:txBody>
      </p:sp>
      <p:sp>
        <p:nvSpPr>
          <p:cNvPr id="11" name="">
            <a:extLst xmlns:a="http://schemas.openxmlformats.org/drawingml/2006/main">
              <a:ext uri="{FF2B5EF4-FFF2-40B4-BE49-F238E27FC236}">
                <a16:creationId xmlns:a16="http://schemas.microsoft.com/office/drawing/2014/main" id="{2E7E184D-D705-4A16-96CF-300C2F2F6B3E}"/>
              </a:ext>
            </a:extLst>
          </p:cNvPr>
          <p:cNvSpPr>
            <a:spLocks xmlns:a="http://schemas.openxmlformats.org/drawingml/2006/main" noGrp="1"/>
          </p:cNvSpPr>
          <p:nvPr/>
        </p:nvSpPr>
        <p:spPr>
          <a:xfrm xmlns:a="http://schemas.openxmlformats.org/drawingml/2006/main">
            <a:off x="4410075" y="2943225"/>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58DDCD"/>
                </a:solidFill>
                <a:latin typeface="Calibri"/>
                <a:ea typeface="Calibri"/>
                <a:cs typeface="Calibri"/>
              </a:defRPr>
            </a:defPPr>
          </a:lstStyle>
          <a:p xmlns:a="http://schemas.openxmlformats.org/drawingml/2006/main">
            <a:pPr>
              <a:defRPr sz="1950" b="1">
                <a:solidFill>
                  <a:srgbClr val="58DDCD"/>
                </a:solidFill>
                <a:latin typeface="Calibri"/>
                <a:ea typeface="Calibri"/>
                <a:cs typeface="Calibri"/>
              </a:defRPr>
            </a:pPr>
            <a:r>
              <a:rPr sz="1950" b="1">
                <a:solidFill>
                  <a:srgbClr val="58DDCD"/>
                </a:solidFill>
                <a:latin typeface="Calibri"/>
                <a:ea typeface="Calibri"/>
                <a:cs typeface="Calibri"/>
              </a:rPr>
              <a:t>Revenue</a:t>
            </a:r>
          </a:p>
        </p:txBody>
      </p:sp>
      <p:sp>
        <p:nvSpPr>
          <p:cNvPr id="12" name="">
            <a:extLst xmlns:a="http://schemas.openxmlformats.org/drawingml/2006/main">
              <a:ext uri="{FF2B5EF4-FFF2-40B4-BE49-F238E27FC236}">
                <a16:creationId xmlns:a16="http://schemas.microsoft.com/office/drawing/2014/main" id="{B788C150-45D6-4069-9C49-C127FE1E378E}"/>
              </a:ext>
            </a:extLst>
          </p:cNvPr>
          <p:cNvSpPr>
            <a:spLocks xmlns:a="http://schemas.openxmlformats.org/drawingml/2006/main" noGrp="1"/>
          </p:cNvSpPr>
          <p:nvPr/>
        </p:nvSpPr>
        <p:spPr>
          <a:xfrm xmlns:a="http://schemas.openxmlformats.org/drawingml/2006/main">
            <a:off x="4410075" y="3400425"/>
            <a:ext cx="342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4F4ED"/>
                </a:solidFill>
                <a:latin typeface="Calibri"/>
                <a:ea typeface="Calibri"/>
                <a:cs typeface="Calibri"/>
              </a:defRPr>
            </a:defPPr>
          </a:lstStyle>
          <a:p xmlns:a="http://schemas.openxmlformats.org/drawingml/2006/main">
            <a:pPr>
              <a:defRPr sz="1875" b="0">
                <a:solidFill>
                  <a:srgbClr val="F4F4ED"/>
                </a:solidFill>
                <a:latin typeface="Calibri"/>
                <a:ea typeface="Calibri"/>
                <a:cs typeface="Calibri"/>
              </a:defRPr>
            </a:pPr>
            <a:r>
              <a:rPr sz="1875" b="0">
                <a:solidFill>
                  <a:srgbClr val="F4F4ED"/>
                </a:solidFill>
                <a:latin typeface="Calibri"/>
                <a:ea typeface="Calibri"/>
                <a:cs typeface="Calibri"/>
              </a:rPr>
              <a:t>Test monthly or usage prices</a:t>
            </a:r>
          </a:p>
        </p:txBody>
      </p:sp>
      <p:sp>
        <p:nvSpPr>
          <p:cNvPr id="13" name="">
            <a:extLst xmlns:a="http://schemas.openxmlformats.org/drawingml/2006/main">
              <a:ext uri="{FF2B5EF4-FFF2-40B4-BE49-F238E27FC236}">
                <a16:creationId xmlns:a16="http://schemas.microsoft.com/office/drawing/2014/main" id="{5755A103-D0F0-433A-97F7-3C1348FE70F9}"/>
              </a:ext>
            </a:extLst>
          </p:cNvPr>
          <p:cNvSpPr>
            <a:spLocks xmlns:a="http://schemas.openxmlformats.org/drawingml/2006/main" noGrp="1"/>
          </p:cNvSpPr>
          <p:nvPr/>
        </p:nvSpPr>
        <p:spPr>
          <a:xfrm xmlns:a="http://schemas.openxmlformats.org/drawingml/2006/main">
            <a:off x="8153400" y="2943225"/>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58DDCD"/>
                </a:solidFill>
                <a:latin typeface="Calibri"/>
                <a:ea typeface="Calibri"/>
                <a:cs typeface="Calibri"/>
              </a:defRPr>
            </a:defPPr>
          </a:lstStyle>
          <a:p xmlns:a="http://schemas.openxmlformats.org/drawingml/2006/main">
            <a:pPr>
              <a:defRPr sz="1950" b="1">
                <a:solidFill>
                  <a:srgbClr val="58DDCD"/>
                </a:solidFill>
                <a:latin typeface="Calibri"/>
                <a:ea typeface="Calibri"/>
                <a:cs typeface="Calibri"/>
              </a:defRPr>
            </a:pPr>
            <a:r>
              <a:rPr sz="1950" b="1">
                <a:solidFill>
                  <a:srgbClr val="58DDCD"/>
                </a:solidFill>
                <a:latin typeface="Calibri"/>
                <a:ea typeface="Calibri"/>
                <a:cs typeface="Calibri"/>
              </a:rPr>
              <a:t>Activities</a:t>
            </a:r>
          </a:p>
        </p:txBody>
      </p:sp>
      <p:sp>
        <p:nvSpPr>
          <p:cNvPr id="14" name="">
            <a:extLst xmlns:a="http://schemas.openxmlformats.org/drawingml/2006/main">
              <a:ext uri="{FF2B5EF4-FFF2-40B4-BE49-F238E27FC236}">
                <a16:creationId xmlns:a16="http://schemas.microsoft.com/office/drawing/2014/main" id="{1967D55F-BD5B-438E-8DFC-074A26F39D77}"/>
              </a:ext>
            </a:extLst>
          </p:cNvPr>
          <p:cNvSpPr>
            <a:spLocks xmlns:a="http://schemas.openxmlformats.org/drawingml/2006/main" noGrp="1"/>
          </p:cNvSpPr>
          <p:nvPr/>
        </p:nvSpPr>
        <p:spPr>
          <a:xfrm xmlns:a="http://schemas.openxmlformats.org/drawingml/2006/main">
            <a:off x="8153400" y="3400425"/>
            <a:ext cx="342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4F4ED"/>
                </a:solidFill>
                <a:latin typeface="Calibri"/>
                <a:ea typeface="Calibri"/>
                <a:cs typeface="Calibri"/>
              </a:defRPr>
            </a:defPPr>
          </a:lstStyle>
          <a:p xmlns:a="http://schemas.openxmlformats.org/drawingml/2006/main">
            <a:pPr>
              <a:defRPr sz="1875" b="0">
                <a:solidFill>
                  <a:srgbClr val="F4F4ED"/>
                </a:solidFill>
                <a:latin typeface="Calibri"/>
                <a:ea typeface="Calibri"/>
                <a:cs typeface="Calibri"/>
              </a:defRPr>
            </a:pPr>
            <a:r>
              <a:rPr sz="1875" b="0">
                <a:solidFill>
                  <a:srgbClr val="F4F4ED"/>
                </a:solidFill>
                <a:latin typeface="Calibri"/>
                <a:ea typeface="Calibri"/>
                <a:cs typeface="Calibri"/>
              </a:rPr>
              <a:t>Integration, analysis and review tools</a:t>
            </a:r>
          </a:p>
        </p:txBody>
      </p:sp>
      <p:sp>
        <p:nvSpPr>
          <p:cNvPr id="15" name="">
            <a:extLst xmlns:a="http://schemas.openxmlformats.org/drawingml/2006/main">
              <a:ext uri="{FF2B5EF4-FFF2-40B4-BE49-F238E27FC236}">
                <a16:creationId xmlns:a16="http://schemas.microsoft.com/office/drawing/2014/main" id="{E4188157-3B9C-4D52-9D5A-065926680BE2}"/>
              </a:ext>
            </a:extLst>
          </p:cNvPr>
          <p:cNvSpPr>
            <a:spLocks xmlns:a="http://schemas.openxmlformats.org/drawingml/2006/main" noGrp="1"/>
          </p:cNvSpPr>
          <p:nvPr/>
        </p:nvSpPr>
        <p:spPr>
          <a:xfrm xmlns:a="http://schemas.openxmlformats.org/drawingml/2006/main">
            <a:off x="666750" y="43243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58DDCD"/>
                </a:solidFill>
                <a:latin typeface="Calibri"/>
                <a:ea typeface="Calibri"/>
                <a:cs typeface="Calibri"/>
              </a:defRPr>
            </a:defPPr>
          </a:lstStyle>
          <a:p xmlns:a="http://schemas.openxmlformats.org/drawingml/2006/main">
            <a:pPr>
              <a:defRPr sz="1950" b="1">
                <a:solidFill>
                  <a:srgbClr val="58DDCD"/>
                </a:solidFill>
                <a:latin typeface="Calibri"/>
                <a:ea typeface="Calibri"/>
                <a:cs typeface="Calibri"/>
              </a:defRPr>
            </a:pPr>
            <a:r>
              <a:rPr sz="1950" b="1">
                <a:solidFill>
                  <a:srgbClr val="58DDCD"/>
                </a:solidFill>
                <a:latin typeface="Calibri"/>
                <a:ea typeface="Calibri"/>
                <a:cs typeface="Calibri"/>
              </a:rPr>
              <a:t>Resources</a:t>
            </a:r>
          </a:p>
        </p:txBody>
      </p:sp>
      <p:sp>
        <p:nvSpPr>
          <p:cNvPr id="16" name="">
            <a:extLst xmlns:a="http://schemas.openxmlformats.org/drawingml/2006/main">
              <a:ext uri="{FF2B5EF4-FFF2-40B4-BE49-F238E27FC236}">
                <a16:creationId xmlns:a16="http://schemas.microsoft.com/office/drawing/2014/main" id="{C5F8A185-BDD6-472A-BECF-A9DF56EC09A6}"/>
              </a:ext>
            </a:extLst>
          </p:cNvPr>
          <p:cNvSpPr>
            <a:spLocks xmlns:a="http://schemas.openxmlformats.org/drawingml/2006/main" noGrp="1"/>
          </p:cNvSpPr>
          <p:nvPr/>
        </p:nvSpPr>
        <p:spPr>
          <a:xfrm xmlns:a="http://schemas.openxmlformats.org/drawingml/2006/main">
            <a:off x="666750" y="4781550"/>
            <a:ext cx="342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4F4ED"/>
                </a:solidFill>
                <a:latin typeface="Calibri"/>
                <a:ea typeface="Calibri"/>
                <a:cs typeface="Calibri"/>
              </a:defRPr>
            </a:defPPr>
          </a:lstStyle>
          <a:p xmlns:a="http://schemas.openxmlformats.org/drawingml/2006/main">
            <a:pPr>
              <a:defRPr sz="1875" b="0">
                <a:solidFill>
                  <a:srgbClr val="F4F4ED"/>
                </a:solidFill>
                <a:latin typeface="Calibri"/>
                <a:ea typeface="Calibri"/>
                <a:cs typeface="Calibri"/>
              </a:defRPr>
            </a:pPr>
            <a:r>
              <a:rPr sz="1875" b="0">
                <a:solidFill>
                  <a:srgbClr val="F4F4ED"/>
                </a:solidFill>
                <a:latin typeface="Calibri"/>
                <a:ea typeface="Calibri"/>
                <a:cs typeface="Calibri"/>
              </a:rPr>
              <a:t>Labelled game data and technical skills</a:t>
            </a:r>
          </a:p>
        </p:txBody>
      </p:sp>
      <p:sp>
        <p:nvSpPr>
          <p:cNvPr id="17" name="">
            <a:extLst xmlns:a="http://schemas.openxmlformats.org/drawingml/2006/main">
              <a:ext uri="{FF2B5EF4-FFF2-40B4-BE49-F238E27FC236}">
                <a16:creationId xmlns:a16="http://schemas.microsoft.com/office/drawing/2014/main" id="{7A1AAD9B-E48C-4C61-8ED4-853BB12AC7E2}"/>
              </a:ext>
            </a:extLst>
          </p:cNvPr>
          <p:cNvSpPr>
            <a:spLocks xmlns:a="http://schemas.openxmlformats.org/drawingml/2006/main" noGrp="1"/>
          </p:cNvSpPr>
          <p:nvPr/>
        </p:nvSpPr>
        <p:spPr>
          <a:xfrm xmlns:a="http://schemas.openxmlformats.org/drawingml/2006/main">
            <a:off x="4410075" y="43243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58DDCD"/>
                </a:solidFill>
                <a:latin typeface="Calibri"/>
                <a:ea typeface="Calibri"/>
                <a:cs typeface="Calibri"/>
              </a:defRPr>
            </a:defPPr>
          </a:lstStyle>
          <a:p xmlns:a="http://schemas.openxmlformats.org/drawingml/2006/main">
            <a:pPr>
              <a:defRPr sz="1950" b="1">
                <a:solidFill>
                  <a:srgbClr val="58DDCD"/>
                </a:solidFill>
                <a:latin typeface="Calibri"/>
                <a:ea typeface="Calibri"/>
                <a:cs typeface="Calibri"/>
              </a:defRPr>
            </a:pPr>
            <a:r>
              <a:rPr sz="1950" b="1">
                <a:solidFill>
                  <a:srgbClr val="58DDCD"/>
                </a:solidFill>
                <a:latin typeface="Calibri"/>
                <a:ea typeface="Calibri"/>
                <a:cs typeface="Calibri"/>
              </a:rPr>
              <a:t>Partners</a:t>
            </a:r>
          </a:p>
        </p:txBody>
      </p:sp>
      <p:sp>
        <p:nvSpPr>
          <p:cNvPr id="18" name="">
            <a:extLst xmlns:a="http://schemas.openxmlformats.org/drawingml/2006/main">
              <a:ext uri="{FF2B5EF4-FFF2-40B4-BE49-F238E27FC236}">
                <a16:creationId xmlns:a16="http://schemas.microsoft.com/office/drawing/2014/main" id="{97E99091-D60F-4D44-83E4-6C01FBA6B71D}"/>
              </a:ext>
            </a:extLst>
          </p:cNvPr>
          <p:cNvSpPr>
            <a:spLocks xmlns:a="http://schemas.openxmlformats.org/drawingml/2006/main" noGrp="1"/>
          </p:cNvSpPr>
          <p:nvPr/>
        </p:nvSpPr>
        <p:spPr>
          <a:xfrm xmlns:a="http://schemas.openxmlformats.org/drawingml/2006/main">
            <a:off x="4410075" y="4781550"/>
            <a:ext cx="342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4F4ED"/>
                </a:solidFill>
                <a:latin typeface="Calibri"/>
                <a:ea typeface="Calibri"/>
                <a:cs typeface="Calibri"/>
              </a:defRPr>
            </a:defPPr>
          </a:lstStyle>
          <a:p xmlns:a="http://schemas.openxmlformats.org/drawingml/2006/main">
            <a:pPr>
              <a:defRPr sz="1875" b="0">
                <a:solidFill>
                  <a:srgbClr val="F4F4ED"/>
                </a:solidFill>
                <a:latin typeface="Calibri"/>
                <a:ea typeface="Calibri"/>
                <a:cs typeface="Calibri"/>
              </a:defRPr>
            </a:pPr>
            <a:r>
              <a:rPr sz="1875" b="0">
                <a:solidFill>
                  <a:srgbClr val="F4F4ED"/>
                </a:solidFill>
                <a:latin typeface="Calibri"/>
                <a:ea typeface="Calibri"/>
                <a:cs typeface="Calibri"/>
              </a:rPr>
              <a:t>Pilot studios and moderators</a:t>
            </a:r>
          </a:p>
        </p:txBody>
      </p:sp>
      <p:sp>
        <p:nvSpPr>
          <p:cNvPr id="19" name="">
            <a:extLst xmlns:a="http://schemas.openxmlformats.org/drawingml/2006/main">
              <a:ext uri="{FF2B5EF4-FFF2-40B4-BE49-F238E27FC236}">
                <a16:creationId xmlns:a16="http://schemas.microsoft.com/office/drawing/2014/main" id="{B1C2ACCF-952A-49D1-8A75-6CB594F6D3B5}"/>
              </a:ext>
            </a:extLst>
          </p:cNvPr>
          <p:cNvSpPr>
            <a:spLocks xmlns:a="http://schemas.openxmlformats.org/drawingml/2006/main" noGrp="1"/>
          </p:cNvSpPr>
          <p:nvPr/>
        </p:nvSpPr>
        <p:spPr>
          <a:xfrm xmlns:a="http://schemas.openxmlformats.org/drawingml/2006/main">
            <a:off x="8153400" y="43243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58DDCD"/>
                </a:solidFill>
                <a:latin typeface="Calibri"/>
                <a:ea typeface="Calibri"/>
                <a:cs typeface="Calibri"/>
              </a:defRPr>
            </a:defPPr>
          </a:lstStyle>
          <a:p xmlns:a="http://schemas.openxmlformats.org/drawingml/2006/main">
            <a:pPr>
              <a:defRPr sz="1950" b="1">
                <a:solidFill>
                  <a:srgbClr val="58DDCD"/>
                </a:solidFill>
                <a:latin typeface="Calibri"/>
                <a:ea typeface="Calibri"/>
                <a:cs typeface="Calibri"/>
              </a:defRPr>
            </a:pPr>
            <a:r>
              <a:rPr sz="1950" b="1">
                <a:solidFill>
                  <a:srgbClr val="58DDCD"/>
                </a:solidFill>
                <a:latin typeface="Calibri"/>
                <a:ea typeface="Calibri"/>
                <a:cs typeface="Calibri"/>
              </a:rPr>
              <a:t>Costs</a:t>
            </a:r>
          </a:p>
        </p:txBody>
      </p:sp>
      <p:sp>
        <p:nvSpPr>
          <p:cNvPr id="20" name="">
            <a:extLst xmlns:a="http://schemas.openxmlformats.org/drawingml/2006/main">
              <a:ext uri="{FF2B5EF4-FFF2-40B4-BE49-F238E27FC236}">
                <a16:creationId xmlns:a16="http://schemas.microsoft.com/office/drawing/2014/main" id="{F7E474E0-6393-4280-BD6E-3B56E695E1F2}"/>
              </a:ext>
            </a:extLst>
          </p:cNvPr>
          <p:cNvSpPr>
            <a:spLocks xmlns:a="http://schemas.openxmlformats.org/drawingml/2006/main" noGrp="1"/>
          </p:cNvSpPr>
          <p:nvPr/>
        </p:nvSpPr>
        <p:spPr>
          <a:xfrm xmlns:a="http://schemas.openxmlformats.org/drawingml/2006/main">
            <a:off x="8153400" y="4781550"/>
            <a:ext cx="342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4F4ED"/>
                </a:solidFill>
                <a:latin typeface="Calibri"/>
                <a:ea typeface="Calibri"/>
                <a:cs typeface="Calibri"/>
              </a:defRPr>
            </a:defPPr>
          </a:lstStyle>
          <a:p xmlns:a="http://schemas.openxmlformats.org/drawingml/2006/main">
            <a:pPr>
              <a:defRPr sz="1875" b="0">
                <a:solidFill>
                  <a:srgbClr val="F4F4ED"/>
                </a:solidFill>
                <a:latin typeface="Calibri"/>
                <a:ea typeface="Calibri"/>
                <a:cs typeface="Calibri"/>
              </a:defRPr>
            </a:pPr>
            <a:r>
              <a:rPr sz="1875" b="0">
                <a:solidFill>
                  <a:srgbClr val="F4F4ED"/>
                </a:solidFill>
                <a:latin typeface="Calibri"/>
                <a:ea typeface="Calibri"/>
                <a:cs typeface="Calibri"/>
              </a:rPr>
              <a:t>Development, servers and support</a:t>
            </a:r>
          </a:p>
        </p:txBody>
      </p:sp>
      <p:sp>
        <p:nvSpPr>
          <p:cNvPr id="21" name="">
            <a:extLst xmlns:a="http://schemas.openxmlformats.org/drawingml/2006/main">
              <a:ext uri="{FF2B5EF4-FFF2-40B4-BE49-F238E27FC236}">
                <a16:creationId xmlns:a16="http://schemas.microsoft.com/office/drawing/2014/main" id="{9DD3D918-63C1-4189-911C-E61B521C4802}"/>
              </a:ext>
            </a:extLst>
          </p:cNvPr>
          <p:cNvSpPr>
            <a:spLocks xmlns:a="http://schemas.openxmlformats.org/drawingml/2006/main" noGrp="1"/>
          </p:cNvSpPr>
          <p:nvPr/>
        </p:nvSpPr>
        <p:spPr>
          <a:xfrm xmlns:a="http://schemas.openxmlformats.org/drawingml/2006/main">
            <a:off x="666750" y="575310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AEB6B4"/>
                </a:solidFill>
                <a:latin typeface="Calibri"/>
                <a:ea typeface="Calibri"/>
                <a:cs typeface="Calibri"/>
              </a:defRPr>
            </a:defPPr>
          </a:lstStyle>
          <a:p xmlns:a="http://schemas.openxmlformats.org/drawingml/2006/main">
            <a:pPr>
              <a:defRPr sz="1725" b="0">
                <a:solidFill>
                  <a:srgbClr val="AEB6B4"/>
                </a:solidFill>
                <a:latin typeface="Calibri"/>
                <a:ea typeface="Calibri"/>
                <a:cs typeface="Calibri"/>
              </a:defRPr>
            </a:pPr>
            <a:r>
              <a:rPr sz="1725" b="0">
                <a:solidFill>
                  <a:srgbClr val="AEB6B4"/>
                </a:solidFill>
                <a:latin typeface="Calibri"/>
                <a:ea typeface="Calibri"/>
                <a:cs typeface="Calibri"/>
              </a:rPr>
              <a:t>A limited free pilot comes before the paid offer</a:t>
            </a:r>
          </a:p>
        </p:txBody>
      </p:sp>
    </p:spTree>
    <p:extLst>
      <p:ext uri="{BB962C8B-B14F-4D97-AF65-F5344CB8AC3E}">
        <p14:creationId xmlns:p14="http://schemas.microsoft.com/office/powerpoint/2010/main" val="1999647890"/>
      </p:ext>
    </p:extLst>
  </p:cSld>
</p:sld>
</file>

<file path=ppt/slides/slide11.xml><?xml version="1.0" encoding="utf-8"?>
<p:sld xmlns:p="http://schemas.openxmlformats.org/presentationml/2006/main">
  <p:cSld>
    <p:bg>
      <p:bgPr>
        <a:solidFill xmlns:a="http://schemas.openxmlformats.org/drawingml/2006/main">
          <a:srgbClr val="080B0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4D26405-FE2E-47B1-90AE-1A68C5745B02}"/>
              </a:ext>
            </a:extLst>
          </p:cNvPr>
          <p:cNvSpPr>
            <a:spLocks xmlns:a="http://schemas.openxmlformats.org/drawingml/2006/main" noGrp="1"/>
          </p:cNvSpPr>
          <p:nvPr/>
        </p:nvSpPr>
        <p:spPr>
          <a:xfrm xmlns:a="http://schemas.openxmlformats.org/drawingml/2006/main">
            <a:off x="619125" y="4476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E7F35A"/>
                </a:solidFill>
                <a:latin typeface="Calibri"/>
                <a:ea typeface="Calibri"/>
                <a:cs typeface="Calibri"/>
              </a:defRPr>
            </a:defPPr>
          </a:lstStyle>
          <a:p xmlns:a="http://schemas.openxmlformats.org/drawingml/2006/main">
            <a:pPr>
              <a:defRPr sz="3300" b="1">
                <a:solidFill>
                  <a:srgbClr val="E7F35A"/>
                </a:solidFill>
                <a:latin typeface="Calibri"/>
                <a:ea typeface="Calibri"/>
                <a:cs typeface="Calibri"/>
              </a:defRPr>
            </a:pPr>
            <a:r>
              <a:rPr sz="3300" b="1">
                <a:solidFill>
                  <a:srgbClr val="E7F35A"/>
                </a:solidFill>
                <a:latin typeface="Calibri"/>
                <a:ea typeface="Calibri"/>
                <a:cs typeface="Calibri"/>
              </a:rPr>
              <a:t>Next tests</a:t>
            </a:r>
          </a:p>
        </p:txBody>
      </p:sp>
      <p:sp>
        <p:nvSpPr>
          <p:cNvPr id="2" name="">
            <a:extLst xmlns:a="http://schemas.openxmlformats.org/drawingml/2006/main">
              <a:ext uri="{FF2B5EF4-FFF2-40B4-BE49-F238E27FC236}">
                <a16:creationId xmlns:a16="http://schemas.microsoft.com/office/drawing/2014/main" id="{4D0CCFA8-9A87-4B58-9E01-A49624D4AC94}"/>
              </a:ext>
            </a:extLst>
          </p:cNvPr>
          <p:cNvSpPr>
            <a:spLocks xmlns:a="http://schemas.openxmlformats.org/drawingml/2006/main" noGrp="1"/>
          </p:cNvSpPr>
          <p:nvPr/>
        </p:nvSpPr>
        <p:spPr>
          <a:xfrm xmlns:a="http://schemas.openxmlformats.org/drawingml/2006/main">
            <a:off x="619125" y="621030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EB6B4"/>
                </a:solidFill>
                <a:latin typeface="Calibri"/>
                <a:ea typeface="Calibri"/>
                <a:cs typeface="Calibri"/>
              </a:defRPr>
            </a:defPPr>
          </a:lstStyle>
          <a:p xmlns:a="http://schemas.openxmlformats.org/drawingml/2006/main">
            <a:pPr>
              <a:defRPr sz="1200" b="0">
                <a:solidFill>
                  <a:srgbClr val="AEB6B4"/>
                </a:solidFill>
                <a:latin typeface="Calibri"/>
                <a:ea typeface="Calibri"/>
                <a:cs typeface="Calibri"/>
              </a:defRPr>
            </a:pPr>
            <a:r>
              <a:rPr sz="1200" b="0">
                <a:solidFill>
                  <a:srgbClr val="AEB6B4"/>
                </a:solidFill>
                <a:latin typeface="Calibri"/>
                <a:ea typeface="Calibri"/>
                <a:cs typeface="Calibri"/>
              </a:rPr>
              <a:t>Proposed targets. We have not achieved these results.</a:t>
            </a:r>
          </a:p>
        </p:txBody>
      </p:sp>
      <p:sp>
        <p:nvSpPr>
          <p:cNvPr id="3" name="">
            <a:extLst xmlns:a="http://schemas.openxmlformats.org/drawingml/2006/main">
              <a:ext uri="{FF2B5EF4-FFF2-40B4-BE49-F238E27FC236}">
                <a16:creationId xmlns:a16="http://schemas.microsoft.com/office/drawing/2014/main" id="{45EFBF41-DF92-4D00-8CC3-94B5EAABC47D}"/>
              </a:ext>
            </a:extLst>
          </p:cNvPr>
          <p:cNvSpPr>
            <a:spLocks xmlns:a="http://schemas.openxmlformats.org/drawingml/2006/main" noGrp="1"/>
          </p:cNvSpPr>
          <p:nvPr/>
        </p:nvSpPr>
        <p:spPr>
          <a:xfrm xmlns:a="http://schemas.openxmlformats.org/drawingml/2006/main">
            <a:off x="666750" y="1762125"/>
            <a:ext cx="2590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E7F35A"/>
                </a:solidFill>
                <a:latin typeface="Calibri"/>
                <a:ea typeface="Calibri"/>
                <a:cs typeface="Calibri"/>
              </a:defRPr>
            </a:defPPr>
          </a:lstStyle>
          <a:p xmlns:a="http://schemas.openxmlformats.org/drawingml/2006/main">
            <a:pPr>
              <a:defRPr sz="2700" b="1">
                <a:solidFill>
                  <a:srgbClr val="E7F35A"/>
                </a:solidFill>
                <a:latin typeface="Calibri"/>
                <a:ea typeface="Calibri"/>
                <a:cs typeface="Calibri"/>
              </a:defRPr>
            </a:pPr>
            <a:r>
              <a:rPr sz="2700" b="1">
                <a:solidFill>
                  <a:srgbClr val="E7F35A"/>
                </a:solidFill>
                <a:latin typeface="Calibri"/>
                <a:ea typeface="Calibri"/>
                <a:cs typeface="Calibri"/>
              </a:rPr>
              <a:t>01</a:t>
            </a:r>
          </a:p>
        </p:txBody>
      </p:sp>
      <p:sp>
        <p:nvSpPr>
          <p:cNvPr id="4" name="">
            <a:extLst xmlns:a="http://schemas.openxmlformats.org/drawingml/2006/main">
              <a:ext uri="{FF2B5EF4-FFF2-40B4-BE49-F238E27FC236}">
                <a16:creationId xmlns:a16="http://schemas.microsoft.com/office/drawing/2014/main" id="{C001DB42-68C6-4AC2-8B8C-3CEB38C4860B}"/>
              </a:ext>
            </a:extLst>
          </p:cNvPr>
          <p:cNvSpPr>
            <a:spLocks xmlns:a="http://schemas.openxmlformats.org/drawingml/2006/main" noGrp="1"/>
          </p:cNvSpPr>
          <p:nvPr/>
        </p:nvSpPr>
        <p:spPr>
          <a:xfrm xmlns:a="http://schemas.openxmlformats.org/drawingml/2006/main">
            <a:off x="666750" y="2590800"/>
            <a:ext cx="2590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F4F4ED"/>
                </a:solidFill>
                <a:latin typeface="Calibri"/>
                <a:ea typeface="Calibri"/>
                <a:cs typeface="Calibri"/>
              </a:defRPr>
            </a:defPPr>
          </a:lstStyle>
          <a:p xmlns:a="http://schemas.openxmlformats.org/drawingml/2006/main">
            <a:pPr>
              <a:defRPr sz="2175" b="1">
                <a:solidFill>
                  <a:srgbClr val="F4F4ED"/>
                </a:solidFill>
                <a:latin typeface="Calibri"/>
                <a:ea typeface="Calibri"/>
                <a:cs typeface="Calibri"/>
              </a:defRPr>
            </a:pPr>
            <a:r>
              <a:rPr sz="2175" b="1">
                <a:solidFill>
                  <a:srgbClr val="F4F4ED"/>
                </a:solidFill>
                <a:latin typeface="Calibri"/>
                <a:ea typeface="Calibri"/>
                <a:cs typeface="Calibri"/>
              </a:rPr>
              <a:t>Buyer interviews</a:t>
            </a:r>
          </a:p>
        </p:txBody>
      </p:sp>
      <p:sp>
        <p:nvSpPr>
          <p:cNvPr id="5" name="">
            <a:extLst xmlns:a="http://schemas.openxmlformats.org/drawingml/2006/main">
              <a:ext uri="{FF2B5EF4-FFF2-40B4-BE49-F238E27FC236}">
                <a16:creationId xmlns:a16="http://schemas.microsoft.com/office/drawing/2014/main" id="{B6D52487-1EAD-436A-A99A-3E3DF9A5A9BB}"/>
              </a:ext>
            </a:extLst>
          </p:cNvPr>
          <p:cNvSpPr>
            <a:spLocks xmlns:a="http://schemas.openxmlformats.org/drawingml/2006/main" noGrp="1"/>
          </p:cNvSpPr>
          <p:nvPr/>
        </p:nvSpPr>
        <p:spPr>
          <a:xfrm xmlns:a="http://schemas.openxmlformats.org/drawingml/2006/main">
            <a:off x="666750" y="3619500"/>
            <a:ext cx="25908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4F4ED"/>
                </a:solidFill>
                <a:latin typeface="Calibri"/>
                <a:ea typeface="Calibri"/>
                <a:cs typeface="Calibri"/>
              </a:defRPr>
            </a:defPPr>
          </a:lstStyle>
          <a:p xmlns:a="http://schemas.openxmlformats.org/drawingml/2006/main">
            <a:pPr>
              <a:defRPr sz="2100" b="0">
                <a:solidFill>
                  <a:srgbClr val="F4F4ED"/>
                </a:solidFill>
                <a:latin typeface="Calibri"/>
                <a:ea typeface="Calibri"/>
                <a:cs typeface="Calibri"/>
              </a:defRPr>
            </a:pPr>
            <a:r>
              <a:rPr sz="2100" b="0">
                <a:solidFill>
                  <a:srgbClr val="F4F4ED"/>
                </a:solidFill>
                <a:latin typeface="Calibri"/>
                <a:ea typeface="Calibri"/>
                <a:cs typeface="Calibri"/>
              </a:rPr>
              <a:t>At least 8 studio leads or moderators</a:t>
            </a:r>
          </a:p>
        </p:txBody>
      </p:sp>
      <p:sp>
        <p:nvSpPr>
          <p:cNvPr id="6" name="">
            <a:extLst xmlns:a="http://schemas.openxmlformats.org/drawingml/2006/main">
              <a:ext uri="{FF2B5EF4-FFF2-40B4-BE49-F238E27FC236}">
                <a16:creationId xmlns:a16="http://schemas.microsoft.com/office/drawing/2014/main" id="{B1BE35C3-CE28-4E88-B745-F9B1FF86A208}"/>
              </a:ext>
            </a:extLst>
          </p:cNvPr>
          <p:cNvSpPr>
            <a:spLocks xmlns:a="http://schemas.openxmlformats.org/drawingml/2006/main" noGrp="1"/>
          </p:cNvSpPr>
          <p:nvPr/>
        </p:nvSpPr>
        <p:spPr>
          <a:xfrm xmlns:a="http://schemas.openxmlformats.org/drawingml/2006/main">
            <a:off x="3476625" y="1762125"/>
            <a:ext cx="2590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E7F35A"/>
                </a:solidFill>
                <a:latin typeface="Calibri"/>
                <a:ea typeface="Calibri"/>
                <a:cs typeface="Calibri"/>
              </a:defRPr>
            </a:defPPr>
          </a:lstStyle>
          <a:p xmlns:a="http://schemas.openxmlformats.org/drawingml/2006/main">
            <a:pPr>
              <a:defRPr sz="2700" b="1">
                <a:solidFill>
                  <a:srgbClr val="E7F35A"/>
                </a:solidFill>
                <a:latin typeface="Calibri"/>
                <a:ea typeface="Calibri"/>
                <a:cs typeface="Calibri"/>
              </a:defRPr>
            </a:pPr>
            <a:r>
              <a:rPr sz="2700" b="1">
                <a:solidFill>
                  <a:srgbClr val="E7F35A"/>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F10C23-C3B5-4FA9-B721-CC733544F8B1}"/>
              </a:ext>
            </a:extLst>
          </p:cNvPr>
          <p:cNvSpPr>
            <a:spLocks xmlns:a="http://schemas.openxmlformats.org/drawingml/2006/main" noGrp="1"/>
          </p:cNvSpPr>
          <p:nvPr/>
        </p:nvSpPr>
        <p:spPr>
          <a:xfrm xmlns:a="http://schemas.openxmlformats.org/drawingml/2006/main">
            <a:off x="3476625" y="2590800"/>
            <a:ext cx="2590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F4F4ED"/>
                </a:solidFill>
                <a:latin typeface="Calibri"/>
                <a:ea typeface="Calibri"/>
                <a:cs typeface="Calibri"/>
              </a:defRPr>
            </a:defPPr>
          </a:lstStyle>
          <a:p xmlns:a="http://schemas.openxmlformats.org/drawingml/2006/main">
            <a:pPr>
              <a:defRPr sz="2175" b="1">
                <a:solidFill>
                  <a:srgbClr val="F4F4ED"/>
                </a:solidFill>
                <a:latin typeface="Calibri"/>
                <a:ea typeface="Calibri"/>
                <a:cs typeface="Calibri"/>
              </a:defRPr>
            </a:pPr>
            <a:r>
              <a:rPr sz="2175" b="1">
                <a:solidFill>
                  <a:srgbClr val="F4F4ED"/>
                </a:solidFill>
                <a:latin typeface="Calibri"/>
                <a:ea typeface="Calibri"/>
                <a:cs typeface="Calibri"/>
              </a:rPr>
              <a:t>Pilot agreements</a:t>
            </a:r>
          </a:p>
        </p:txBody>
      </p:sp>
      <p:sp>
        <p:nvSpPr>
          <p:cNvPr id="8" name="">
            <a:extLst xmlns:a="http://schemas.openxmlformats.org/drawingml/2006/main">
              <a:ext uri="{FF2B5EF4-FFF2-40B4-BE49-F238E27FC236}">
                <a16:creationId xmlns:a16="http://schemas.microsoft.com/office/drawing/2014/main" id="{3F3737A0-AAD2-4083-93F4-E5242B0A5B34}"/>
              </a:ext>
            </a:extLst>
          </p:cNvPr>
          <p:cNvSpPr>
            <a:spLocks xmlns:a="http://schemas.openxmlformats.org/drawingml/2006/main" noGrp="1"/>
          </p:cNvSpPr>
          <p:nvPr/>
        </p:nvSpPr>
        <p:spPr>
          <a:xfrm xmlns:a="http://schemas.openxmlformats.org/drawingml/2006/main">
            <a:off x="3476625" y="3619500"/>
            <a:ext cx="25908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4F4ED"/>
                </a:solidFill>
                <a:latin typeface="Calibri"/>
                <a:ea typeface="Calibri"/>
                <a:cs typeface="Calibri"/>
              </a:defRPr>
            </a:defPPr>
          </a:lstStyle>
          <a:p xmlns:a="http://schemas.openxmlformats.org/drawingml/2006/main">
            <a:pPr>
              <a:defRPr sz="2100" b="0">
                <a:solidFill>
                  <a:srgbClr val="F4F4ED"/>
                </a:solidFill>
                <a:latin typeface="Calibri"/>
                <a:ea typeface="Calibri"/>
                <a:cs typeface="Calibri"/>
              </a:defRPr>
            </a:pPr>
            <a:r>
              <a:rPr sz="2100" b="0">
                <a:solidFill>
                  <a:srgbClr val="F4F4ED"/>
                </a:solidFill>
                <a:latin typeface="Calibri"/>
                <a:ea typeface="Calibri"/>
                <a:cs typeface="Calibri"/>
              </a:rPr>
              <a:t>At least 3 studios with data and an owner</a:t>
            </a:r>
          </a:p>
        </p:txBody>
      </p:sp>
      <p:sp>
        <p:nvSpPr>
          <p:cNvPr id="9" name="">
            <a:extLst xmlns:a="http://schemas.openxmlformats.org/drawingml/2006/main">
              <a:ext uri="{FF2B5EF4-FFF2-40B4-BE49-F238E27FC236}">
                <a16:creationId xmlns:a16="http://schemas.microsoft.com/office/drawing/2014/main" id="{DA8C57C9-A11D-47AF-8D51-913C407A0572}"/>
              </a:ext>
            </a:extLst>
          </p:cNvPr>
          <p:cNvSpPr>
            <a:spLocks xmlns:a="http://schemas.openxmlformats.org/drawingml/2006/main" noGrp="1"/>
          </p:cNvSpPr>
          <p:nvPr/>
        </p:nvSpPr>
        <p:spPr>
          <a:xfrm xmlns:a="http://schemas.openxmlformats.org/drawingml/2006/main">
            <a:off x="6286500" y="1762125"/>
            <a:ext cx="2590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E7F35A"/>
                </a:solidFill>
                <a:latin typeface="Calibri"/>
                <a:ea typeface="Calibri"/>
                <a:cs typeface="Calibri"/>
              </a:defRPr>
            </a:defPPr>
          </a:lstStyle>
          <a:p xmlns:a="http://schemas.openxmlformats.org/drawingml/2006/main">
            <a:pPr>
              <a:defRPr sz="2700" b="1">
                <a:solidFill>
                  <a:srgbClr val="E7F35A"/>
                </a:solidFill>
                <a:latin typeface="Calibri"/>
                <a:ea typeface="Calibri"/>
                <a:cs typeface="Calibri"/>
              </a:defRPr>
            </a:pPr>
            <a:r>
              <a:rPr sz="2700" b="1">
                <a:solidFill>
                  <a:srgbClr val="E7F35A"/>
                </a:solidFill>
                <a:latin typeface="Calibri"/>
                <a:ea typeface="Calibri"/>
                <a:cs typeface="Calibri"/>
              </a:rPr>
              <a:t>03</a:t>
            </a:r>
          </a:p>
        </p:txBody>
      </p:sp>
      <p:sp>
        <p:nvSpPr>
          <p:cNvPr id="10" name="">
            <a:extLst xmlns:a="http://schemas.openxmlformats.org/drawingml/2006/main">
              <a:ext uri="{FF2B5EF4-FFF2-40B4-BE49-F238E27FC236}">
                <a16:creationId xmlns:a16="http://schemas.microsoft.com/office/drawing/2014/main" id="{D0ACAB45-3E57-4821-B2C0-A8A52EDA55A6}"/>
              </a:ext>
            </a:extLst>
          </p:cNvPr>
          <p:cNvSpPr>
            <a:spLocks xmlns:a="http://schemas.openxmlformats.org/drawingml/2006/main" noGrp="1"/>
          </p:cNvSpPr>
          <p:nvPr/>
        </p:nvSpPr>
        <p:spPr>
          <a:xfrm xmlns:a="http://schemas.openxmlformats.org/drawingml/2006/main">
            <a:off x="6286500" y="2590800"/>
            <a:ext cx="2590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F4F4ED"/>
                </a:solidFill>
                <a:latin typeface="Calibri"/>
                <a:ea typeface="Calibri"/>
                <a:cs typeface="Calibri"/>
              </a:defRPr>
            </a:defPPr>
          </a:lstStyle>
          <a:p xmlns:a="http://schemas.openxmlformats.org/drawingml/2006/main">
            <a:pPr>
              <a:defRPr sz="2175" b="1">
                <a:solidFill>
                  <a:srgbClr val="F4F4ED"/>
                </a:solidFill>
                <a:latin typeface="Calibri"/>
                <a:ea typeface="Calibri"/>
                <a:cs typeface="Calibri"/>
              </a:defRPr>
            </a:pPr>
            <a:r>
              <a:rPr sz="2175" b="1">
                <a:solidFill>
                  <a:srgbClr val="F4F4ED"/>
                </a:solidFill>
                <a:latin typeface="Calibri"/>
                <a:ea typeface="Calibri"/>
                <a:cs typeface="Calibri"/>
              </a:rPr>
              <a:t>Technical test</a:t>
            </a:r>
          </a:p>
        </p:txBody>
      </p:sp>
      <p:sp>
        <p:nvSpPr>
          <p:cNvPr id="11" name="">
            <a:extLst xmlns:a="http://schemas.openxmlformats.org/drawingml/2006/main">
              <a:ext uri="{FF2B5EF4-FFF2-40B4-BE49-F238E27FC236}">
                <a16:creationId xmlns:a16="http://schemas.microsoft.com/office/drawing/2014/main" id="{61364051-68E1-42CD-AD49-D2DCECDC8EFB}"/>
              </a:ext>
            </a:extLst>
          </p:cNvPr>
          <p:cNvSpPr>
            <a:spLocks xmlns:a="http://schemas.openxmlformats.org/drawingml/2006/main" noGrp="1"/>
          </p:cNvSpPr>
          <p:nvPr/>
        </p:nvSpPr>
        <p:spPr>
          <a:xfrm xmlns:a="http://schemas.openxmlformats.org/drawingml/2006/main">
            <a:off x="6286500" y="3619500"/>
            <a:ext cx="25908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4F4ED"/>
                </a:solidFill>
                <a:latin typeface="Calibri"/>
                <a:ea typeface="Calibri"/>
                <a:cs typeface="Calibri"/>
              </a:defRPr>
            </a:defPPr>
          </a:lstStyle>
          <a:p xmlns:a="http://schemas.openxmlformats.org/drawingml/2006/main">
            <a:pPr>
              <a:defRPr sz="2100" b="0">
                <a:solidFill>
                  <a:srgbClr val="F4F4ED"/>
                </a:solidFill>
                <a:latin typeface="Calibri"/>
                <a:ea typeface="Calibri"/>
                <a:cs typeface="Calibri"/>
              </a:defRPr>
            </a:pPr>
            <a:r>
              <a:rPr sz="2100" b="0">
                <a:solidFill>
                  <a:srgbClr val="F4F4ED"/>
                </a:solidFill>
                <a:latin typeface="Calibri"/>
                <a:ea typeface="Calibri"/>
                <a:cs typeface="Calibri"/>
              </a:rPr>
              <a:t>Measure correct and wrong alerts</a:t>
            </a:r>
          </a:p>
        </p:txBody>
      </p:sp>
      <p:sp>
        <p:nvSpPr>
          <p:cNvPr id="12" name="">
            <a:extLst xmlns:a="http://schemas.openxmlformats.org/drawingml/2006/main">
              <a:ext uri="{FF2B5EF4-FFF2-40B4-BE49-F238E27FC236}">
                <a16:creationId xmlns:a16="http://schemas.microsoft.com/office/drawing/2014/main" id="{A4CF47D4-581F-4921-AB88-72581A96FF2E}"/>
              </a:ext>
            </a:extLst>
          </p:cNvPr>
          <p:cNvSpPr>
            <a:spLocks xmlns:a="http://schemas.openxmlformats.org/drawingml/2006/main" noGrp="1"/>
          </p:cNvSpPr>
          <p:nvPr/>
        </p:nvSpPr>
        <p:spPr>
          <a:xfrm xmlns:a="http://schemas.openxmlformats.org/drawingml/2006/main">
            <a:off x="9096375" y="1762125"/>
            <a:ext cx="2590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E7F35A"/>
                </a:solidFill>
                <a:latin typeface="Calibri"/>
                <a:ea typeface="Calibri"/>
                <a:cs typeface="Calibri"/>
              </a:defRPr>
            </a:defPPr>
          </a:lstStyle>
          <a:p xmlns:a="http://schemas.openxmlformats.org/drawingml/2006/main">
            <a:pPr>
              <a:defRPr sz="2700" b="1">
                <a:solidFill>
                  <a:srgbClr val="E7F35A"/>
                </a:solidFill>
                <a:latin typeface="Calibri"/>
                <a:ea typeface="Calibri"/>
                <a:cs typeface="Calibri"/>
              </a:defRPr>
            </a:pPr>
            <a:r>
              <a:rPr sz="2700" b="1">
                <a:solidFill>
                  <a:srgbClr val="E7F35A"/>
                </a:solidFill>
                <a:latin typeface="Calibri"/>
                <a:ea typeface="Calibri"/>
                <a:cs typeface="Calibri"/>
              </a:rPr>
              <a:t>04</a:t>
            </a:r>
          </a:p>
        </p:txBody>
      </p:sp>
      <p:sp>
        <p:nvSpPr>
          <p:cNvPr id="13" name="">
            <a:extLst xmlns:a="http://schemas.openxmlformats.org/drawingml/2006/main">
              <a:ext uri="{FF2B5EF4-FFF2-40B4-BE49-F238E27FC236}">
                <a16:creationId xmlns:a16="http://schemas.microsoft.com/office/drawing/2014/main" id="{89A5C15D-7D56-4E6A-AF4E-9A8118D7465E}"/>
              </a:ext>
            </a:extLst>
          </p:cNvPr>
          <p:cNvSpPr>
            <a:spLocks xmlns:a="http://schemas.openxmlformats.org/drawingml/2006/main" noGrp="1"/>
          </p:cNvSpPr>
          <p:nvPr/>
        </p:nvSpPr>
        <p:spPr>
          <a:xfrm xmlns:a="http://schemas.openxmlformats.org/drawingml/2006/main">
            <a:off x="9096375" y="2590800"/>
            <a:ext cx="2590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F4F4ED"/>
                </a:solidFill>
                <a:latin typeface="Calibri"/>
                <a:ea typeface="Calibri"/>
                <a:cs typeface="Calibri"/>
              </a:defRPr>
            </a:defPPr>
          </a:lstStyle>
          <a:p xmlns:a="http://schemas.openxmlformats.org/drawingml/2006/main">
            <a:pPr>
              <a:defRPr sz="2175" b="1">
                <a:solidFill>
                  <a:srgbClr val="F4F4ED"/>
                </a:solidFill>
                <a:latin typeface="Calibri"/>
                <a:ea typeface="Calibri"/>
                <a:cs typeface="Calibri"/>
              </a:defRPr>
            </a:pPr>
            <a:r>
              <a:rPr sz="2175" b="1">
                <a:solidFill>
                  <a:srgbClr val="F4F4ED"/>
                </a:solidFill>
                <a:latin typeface="Calibri"/>
                <a:ea typeface="Calibri"/>
                <a:cs typeface="Calibri"/>
              </a:rPr>
              <a:t>Review test</a:t>
            </a:r>
          </a:p>
        </p:txBody>
      </p:sp>
      <p:sp>
        <p:nvSpPr>
          <p:cNvPr id="14" name="">
            <a:extLst xmlns:a="http://schemas.openxmlformats.org/drawingml/2006/main">
              <a:ext uri="{FF2B5EF4-FFF2-40B4-BE49-F238E27FC236}">
                <a16:creationId xmlns:a16="http://schemas.microsoft.com/office/drawing/2014/main" id="{43800806-9DFE-41DE-815A-A56570CD4138}"/>
              </a:ext>
            </a:extLst>
          </p:cNvPr>
          <p:cNvSpPr>
            <a:spLocks xmlns:a="http://schemas.openxmlformats.org/drawingml/2006/main" noGrp="1"/>
          </p:cNvSpPr>
          <p:nvPr/>
        </p:nvSpPr>
        <p:spPr>
          <a:xfrm xmlns:a="http://schemas.openxmlformats.org/drawingml/2006/main">
            <a:off x="9096375" y="3619500"/>
            <a:ext cx="25908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4F4ED"/>
                </a:solidFill>
                <a:latin typeface="Calibri"/>
                <a:ea typeface="Calibri"/>
                <a:cs typeface="Calibri"/>
              </a:defRPr>
            </a:defPPr>
          </a:lstStyle>
          <a:p xmlns:a="http://schemas.openxmlformats.org/drawingml/2006/main">
            <a:pPr>
              <a:defRPr sz="2100" b="0">
                <a:solidFill>
                  <a:srgbClr val="F4F4ED"/>
                </a:solidFill>
                <a:latin typeface="Calibri"/>
                <a:ea typeface="Calibri"/>
                <a:cs typeface="Calibri"/>
              </a:defRPr>
            </a:pPr>
            <a:r>
              <a:rPr sz="2100" b="0">
                <a:solidFill>
                  <a:srgbClr val="F4F4ED"/>
                </a:solidFill>
                <a:latin typeface="Calibri"/>
                <a:ea typeface="Calibri"/>
                <a:cs typeface="Calibri"/>
              </a:rPr>
              <a:t>Target 20% less median review time</a:t>
            </a:r>
          </a:p>
        </p:txBody>
      </p:sp>
      <p:sp>
        <p:nvSpPr>
          <p:cNvPr id="15" name="">
            <a:extLst xmlns:a="http://schemas.openxmlformats.org/drawingml/2006/main">
              <a:ext uri="{FF2B5EF4-FFF2-40B4-BE49-F238E27FC236}">
                <a16:creationId xmlns:a16="http://schemas.microsoft.com/office/drawing/2014/main" id="{A156A0BB-87F0-4F55-84A8-1F01DC5BDFC8}"/>
              </a:ext>
            </a:extLst>
          </p:cNvPr>
          <p:cNvSpPr>
            <a:spLocks xmlns:a="http://schemas.openxmlformats.org/drawingml/2006/main" noGrp="1"/>
          </p:cNvSpPr>
          <p:nvPr/>
        </p:nvSpPr>
        <p:spPr>
          <a:xfrm xmlns:a="http://schemas.openxmlformats.org/drawingml/2006/main">
            <a:off x="666750" y="518160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4F4ED"/>
                </a:solidFill>
                <a:latin typeface="Calibri"/>
                <a:ea typeface="Calibri"/>
                <a:cs typeface="Calibri"/>
              </a:defRPr>
            </a:defPPr>
          </a:lstStyle>
          <a:p xmlns:a="http://schemas.openxmlformats.org/drawingml/2006/main">
            <a:pPr>
              <a:defRPr sz="1875" b="0">
                <a:solidFill>
                  <a:srgbClr val="F4F4ED"/>
                </a:solidFill>
                <a:latin typeface="Calibri"/>
                <a:ea typeface="Calibri"/>
                <a:cs typeface="Calibri"/>
              </a:defRPr>
            </a:pPr>
            <a:r>
              <a:rPr sz="1875" b="0">
                <a:solidFill>
                  <a:srgbClr val="F4F4ED"/>
                </a:solidFill>
                <a:latin typeface="Calibri"/>
                <a:ea typeface="Calibri"/>
                <a:cs typeface="Calibri"/>
              </a:rPr>
              <a:t>No automatic bans during the pilot</a:t>
            </a:r>
          </a:p>
        </p:txBody>
      </p:sp>
      <p:sp>
        <p:nvSpPr>
          <p:cNvPr id="16" name="">
            <a:extLst xmlns:a="http://schemas.openxmlformats.org/drawingml/2006/main">
              <a:ext uri="{FF2B5EF4-FFF2-40B4-BE49-F238E27FC236}">
                <a16:creationId xmlns:a16="http://schemas.microsoft.com/office/drawing/2014/main" id="{84F429F0-E734-4465-B587-330CFB821FB1}"/>
              </a:ext>
            </a:extLst>
          </p:cNvPr>
          <p:cNvSpPr>
            <a:spLocks xmlns:a="http://schemas.openxmlformats.org/drawingml/2006/main" noGrp="1"/>
          </p:cNvSpPr>
          <p:nvPr/>
        </p:nvSpPr>
        <p:spPr>
          <a:xfrm xmlns:a="http://schemas.openxmlformats.org/drawingml/2006/main">
            <a:off x="666750" y="565785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4F4ED"/>
                </a:solidFill>
                <a:latin typeface="Calibri"/>
                <a:ea typeface="Calibri"/>
                <a:cs typeface="Calibri"/>
              </a:defRPr>
            </a:defPPr>
          </a:lstStyle>
          <a:p xmlns:a="http://schemas.openxmlformats.org/drawingml/2006/main">
            <a:pPr>
              <a:defRPr sz="1875" b="0">
                <a:solidFill>
                  <a:srgbClr val="F4F4ED"/>
                </a:solidFill>
                <a:latin typeface="Calibri"/>
                <a:ea typeface="Calibri"/>
                <a:cs typeface="Calibri"/>
              </a:defRPr>
            </a:pPr>
            <a:r>
              <a:rPr sz="1875" b="0">
                <a:solidFill>
                  <a:srgbClr val="F4F4ED"/>
                </a:solidFill>
                <a:latin typeface="Calibri"/>
                <a:ea typeface="Calibri"/>
                <a:cs typeface="Calibri"/>
              </a:rPr>
              <a:t>Test paid offers after useful results and cost measurement</a:t>
            </a:r>
          </a:p>
        </p:txBody>
      </p:sp>
    </p:spTree>
    <p:extLst>
      <p:ext uri="{BB962C8B-B14F-4D97-AF65-F5344CB8AC3E}">
        <p14:creationId xmlns:p14="http://schemas.microsoft.com/office/powerpoint/2010/main" val="1762498505"/>
      </p:ext>
    </p:extLst>
  </p:cSld>
</p:sld>
</file>

<file path=ppt/slides/slide12.xml><?xml version="1.0" encoding="utf-8"?>
<p:sld xmlns:p="http://schemas.openxmlformats.org/presentationml/2006/main">
  <p:cSld>
    <p:bg>
      <p:bgPr>
        <a:solidFill xmlns:a="http://schemas.openxmlformats.org/drawingml/2006/main">
          <a:srgbClr val="080B0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F3553CF-60AB-4420-8C54-B500E099905B}"/>
              </a:ext>
            </a:extLst>
          </p:cNvPr>
          <p:cNvSpPr>
            <a:spLocks xmlns:a="http://schemas.openxmlformats.org/drawingml/2006/main" noGrp="1"/>
          </p:cNvSpPr>
          <p:nvPr/>
        </p:nvSpPr>
        <p:spPr>
          <a:xfrm xmlns:a="http://schemas.openxmlformats.org/drawingml/2006/main">
            <a:off x="619125" y="4476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E7F35A"/>
                </a:solidFill>
                <a:latin typeface="Calibri"/>
                <a:ea typeface="Calibri"/>
                <a:cs typeface="Calibri"/>
              </a:defRPr>
            </a:defPPr>
          </a:lstStyle>
          <a:p xmlns:a="http://schemas.openxmlformats.org/drawingml/2006/main">
            <a:pPr>
              <a:defRPr sz="3300" b="1">
                <a:solidFill>
                  <a:srgbClr val="E7F35A"/>
                </a:solidFill>
                <a:latin typeface="Calibri"/>
                <a:ea typeface="Calibri"/>
                <a:cs typeface="Calibri"/>
              </a:defRPr>
            </a:pPr>
            <a:r>
              <a:rPr sz="3300" b="1">
                <a:solidFill>
                  <a:srgbClr val="E7F35A"/>
                </a:solidFill>
                <a:latin typeface="Calibri"/>
                <a:ea typeface="Calibri"/>
                <a:cs typeface="Calibri"/>
              </a:rPr>
              <a:t>Conclusion</a:t>
            </a:r>
          </a:p>
        </p:txBody>
      </p:sp>
      <p:sp>
        <p:nvSpPr>
          <p:cNvPr id="2" name="">
            <a:extLst xmlns:a="http://schemas.openxmlformats.org/drawingml/2006/main">
              <a:ext uri="{FF2B5EF4-FFF2-40B4-BE49-F238E27FC236}">
                <a16:creationId xmlns:a16="http://schemas.microsoft.com/office/drawing/2014/main" id="{29C5C18E-D550-475A-B711-8AECFA63CFEF}"/>
              </a:ext>
            </a:extLst>
          </p:cNvPr>
          <p:cNvSpPr>
            <a:spLocks xmlns:a="http://schemas.openxmlformats.org/drawingml/2006/main" noGrp="1"/>
          </p:cNvSpPr>
          <p:nvPr/>
        </p:nvSpPr>
        <p:spPr>
          <a:xfrm xmlns:a="http://schemas.openxmlformats.org/drawingml/2006/main">
            <a:off x="619125" y="621030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EB6B4"/>
                </a:solidFill>
                <a:latin typeface="Calibri"/>
                <a:ea typeface="Calibri"/>
                <a:cs typeface="Calibri"/>
              </a:defRPr>
            </a:defPPr>
          </a:lstStyle>
          <a:p xmlns:a="http://schemas.openxmlformats.org/drawingml/2006/main">
            <a:pPr>
              <a:defRPr sz="1200" b="0">
                <a:solidFill>
                  <a:srgbClr val="AEB6B4"/>
                </a:solidFill>
                <a:latin typeface="Calibri"/>
                <a:ea typeface="Calibri"/>
                <a:cs typeface="Calibri"/>
              </a:defRPr>
            </a:pPr>
            <a:r>
              <a:rPr sz="1200" b="0">
                <a:solidFill>
                  <a:srgbClr val="AEB6B4"/>
                </a:solidFill>
                <a:latin typeface="Calibri"/>
                <a:ea typeface="Calibri"/>
                <a:cs typeface="Calibri"/>
              </a:rPr>
              <a:t>Sources: survey summaries, interview notes and course requirements.</a:t>
            </a:r>
          </a:p>
        </p:txBody>
      </p:sp>
      <p:sp>
        <p:nvSpPr>
          <p:cNvPr id="3" name="">
            <a:extLst xmlns:a="http://schemas.openxmlformats.org/drawingml/2006/main">
              <a:ext uri="{FF2B5EF4-FFF2-40B4-BE49-F238E27FC236}">
                <a16:creationId xmlns:a16="http://schemas.microsoft.com/office/drawing/2014/main" id="{FF35DD67-13D6-468C-8D31-36DF46A641E6}"/>
              </a:ext>
            </a:extLst>
          </p:cNvPr>
          <p:cNvSpPr>
            <a:spLocks xmlns:a="http://schemas.openxmlformats.org/drawingml/2006/main" noGrp="1"/>
          </p:cNvSpPr>
          <p:nvPr/>
        </p:nvSpPr>
        <p:spPr>
          <a:xfrm xmlns:a="http://schemas.openxmlformats.org/drawingml/2006/main">
            <a:off x="666750" y="1676400"/>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4F4ED"/>
                </a:solidFill>
                <a:latin typeface="Calibri"/>
                <a:ea typeface="Calibri"/>
                <a:cs typeface="Calibri"/>
              </a:defRPr>
            </a:defPPr>
          </a:lstStyle>
          <a:p xmlns:a="http://schemas.openxmlformats.org/drawingml/2006/main">
            <a:pPr>
              <a:defRPr sz="2250" b="0">
                <a:solidFill>
                  <a:srgbClr val="F4F4ED"/>
                </a:solidFill>
                <a:latin typeface="Calibri"/>
                <a:ea typeface="Calibri"/>
                <a:cs typeface="Calibri"/>
              </a:defRPr>
            </a:pPr>
            <a:r>
              <a:rPr sz="2250" b="0">
                <a:solidFill>
                  <a:srgbClr val="F4F4ED"/>
                </a:solidFill>
                <a:latin typeface="Calibri"/>
                <a:ea typeface="Calibri"/>
                <a:cs typeface="Calibri"/>
              </a:rPr>
              <a:t>The evidence supports a focused pilot</a:t>
            </a:r>
          </a:p>
        </p:txBody>
      </p:sp>
      <p:sp>
        <p:nvSpPr>
          <p:cNvPr id="4" name="">
            <a:extLst xmlns:a="http://schemas.openxmlformats.org/drawingml/2006/main">
              <a:ext uri="{FF2B5EF4-FFF2-40B4-BE49-F238E27FC236}">
                <a16:creationId xmlns:a16="http://schemas.microsoft.com/office/drawing/2014/main" id="{E025E98F-C570-4284-9E10-A5F7375BB324}"/>
              </a:ext>
            </a:extLst>
          </p:cNvPr>
          <p:cNvSpPr>
            <a:spLocks xmlns:a="http://schemas.openxmlformats.org/drawingml/2006/main" noGrp="1"/>
          </p:cNvSpPr>
          <p:nvPr/>
        </p:nvSpPr>
        <p:spPr>
          <a:xfrm xmlns:a="http://schemas.openxmlformats.org/drawingml/2006/main">
            <a:off x="666750" y="2628900"/>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4F4ED"/>
                </a:solidFill>
                <a:latin typeface="Calibri"/>
                <a:ea typeface="Calibri"/>
                <a:cs typeface="Calibri"/>
              </a:defRPr>
            </a:defPPr>
          </a:lstStyle>
          <a:p xmlns:a="http://schemas.openxmlformats.org/drawingml/2006/main">
            <a:pPr>
              <a:defRPr sz="2250" b="0">
                <a:solidFill>
                  <a:srgbClr val="F4F4ED"/>
                </a:solidFill>
                <a:latin typeface="Calibri"/>
                <a:ea typeface="Calibri"/>
                <a:cs typeface="Calibri"/>
              </a:defRPr>
            </a:pPr>
            <a:r>
              <a:rPr sz="2250" b="0">
                <a:solidFill>
                  <a:srgbClr val="F4F4ED"/>
                </a:solidFill>
                <a:latin typeface="Calibri"/>
                <a:ea typeface="Calibri"/>
                <a:cs typeface="Calibri"/>
              </a:rPr>
              <a:t>Accuracy, wrong alerts and data control come first</a:t>
            </a:r>
          </a:p>
        </p:txBody>
      </p:sp>
      <p:sp>
        <p:nvSpPr>
          <p:cNvPr id="5" name="">
            <a:extLst xmlns:a="http://schemas.openxmlformats.org/drawingml/2006/main">
              <a:ext uri="{FF2B5EF4-FFF2-40B4-BE49-F238E27FC236}">
                <a16:creationId xmlns:a16="http://schemas.microsoft.com/office/drawing/2014/main" id="{0D40B85F-C1AD-4DFF-9DB6-0C10EC4CAE43}"/>
              </a:ext>
            </a:extLst>
          </p:cNvPr>
          <p:cNvSpPr>
            <a:spLocks xmlns:a="http://schemas.openxmlformats.org/drawingml/2006/main" noGrp="1"/>
          </p:cNvSpPr>
          <p:nvPr/>
        </p:nvSpPr>
        <p:spPr>
          <a:xfrm xmlns:a="http://schemas.openxmlformats.org/drawingml/2006/main">
            <a:off x="666750" y="3581400"/>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4F4ED"/>
                </a:solidFill>
                <a:latin typeface="Calibri"/>
                <a:ea typeface="Calibri"/>
                <a:cs typeface="Calibri"/>
              </a:defRPr>
            </a:defPPr>
          </a:lstStyle>
          <a:p xmlns:a="http://schemas.openxmlformats.org/drawingml/2006/main">
            <a:pPr>
              <a:defRPr sz="2250" b="0">
                <a:solidFill>
                  <a:srgbClr val="F4F4ED"/>
                </a:solidFill>
                <a:latin typeface="Calibri"/>
                <a:ea typeface="Calibri"/>
                <a:cs typeface="Calibri"/>
              </a:defRPr>
            </a:pPr>
            <a:r>
              <a:rPr sz="2250" b="0">
                <a:solidFill>
                  <a:srgbClr val="F4F4ED"/>
                </a:solidFill>
                <a:latin typeface="Calibri"/>
                <a:ea typeface="Calibri"/>
                <a:cs typeface="Calibri"/>
              </a:rPr>
              <a:t>Studio demand and payment remain untested</a:t>
            </a:r>
          </a:p>
        </p:txBody>
      </p:sp>
      <p:sp>
        <p:nvSpPr>
          <p:cNvPr id="6" name="">
            <a:extLst xmlns:a="http://schemas.openxmlformats.org/drawingml/2006/main">
              <a:ext uri="{FF2B5EF4-FFF2-40B4-BE49-F238E27FC236}">
                <a16:creationId xmlns:a16="http://schemas.microsoft.com/office/drawing/2014/main" id="{F40D0D52-9734-4EFF-8E9B-3D055350FC5E}"/>
              </a:ext>
            </a:extLst>
          </p:cNvPr>
          <p:cNvSpPr>
            <a:spLocks xmlns:a="http://schemas.openxmlformats.org/drawingml/2006/main" noGrp="1"/>
          </p:cNvSpPr>
          <p:nvPr/>
        </p:nvSpPr>
        <p:spPr>
          <a:xfrm xmlns:a="http://schemas.openxmlformats.org/drawingml/2006/main">
            <a:off x="666750" y="4533900"/>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4F4ED"/>
                </a:solidFill>
                <a:latin typeface="Calibri"/>
                <a:ea typeface="Calibri"/>
                <a:cs typeface="Calibri"/>
              </a:defRPr>
            </a:defPPr>
          </a:lstStyle>
          <a:p xmlns:a="http://schemas.openxmlformats.org/drawingml/2006/main">
            <a:pPr>
              <a:defRPr sz="2250" b="0">
                <a:solidFill>
                  <a:srgbClr val="F4F4ED"/>
                </a:solidFill>
                <a:latin typeface="Calibri"/>
                <a:ea typeface="Calibri"/>
                <a:cs typeface="Calibri"/>
              </a:defRPr>
            </a:pPr>
            <a:r>
              <a:rPr sz="2250" b="0">
                <a:solidFill>
                  <a:srgbClr val="F4F4ED"/>
                </a:solidFill>
                <a:latin typeface="Calibri"/>
                <a:ea typeface="Calibri"/>
                <a:cs typeface="Calibri"/>
              </a:rPr>
              <a:t>More participant evidence is needed for the course minimum</a:t>
            </a:r>
          </a:p>
        </p:txBody>
      </p:sp>
      <p:sp>
        <p:nvSpPr>
          <p:cNvPr id="7" name="">
            <a:extLst xmlns:a="http://schemas.openxmlformats.org/drawingml/2006/main">
              <a:ext uri="{FF2B5EF4-FFF2-40B4-BE49-F238E27FC236}">
                <a16:creationId xmlns:a16="http://schemas.microsoft.com/office/drawing/2014/main" id="{A44083DA-5CBC-4E7F-BA68-7617B9627779}"/>
              </a:ext>
            </a:extLst>
          </p:cNvPr>
          <p:cNvSpPr>
            <a:spLocks xmlns:a="http://schemas.openxmlformats.org/drawingml/2006/main" noGrp="1"/>
          </p:cNvSpPr>
          <p:nvPr/>
        </p:nvSpPr>
        <p:spPr>
          <a:xfrm xmlns:a="http://schemas.openxmlformats.org/drawingml/2006/main">
            <a:off x="666750" y="5667375"/>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8DDCD"/>
                </a:solidFill>
                <a:latin typeface="Calibri"/>
                <a:ea typeface="Calibri"/>
                <a:cs typeface="Calibri"/>
              </a:defRPr>
            </a:defPPr>
          </a:lstStyle>
          <a:p xmlns:a="http://schemas.openxmlformats.org/drawingml/2006/main">
            <a:pPr>
              <a:defRPr sz="2025" b="0">
                <a:solidFill>
                  <a:srgbClr val="58DDCD"/>
                </a:solidFill>
                <a:latin typeface="Calibri"/>
                <a:ea typeface="Calibri"/>
                <a:cs typeface="Calibri"/>
              </a:defRPr>
            </a:pPr>
            <a:r>
              <a:rPr sz="2025" b="0">
                <a:solidFill>
                  <a:srgbClr val="58DDCD"/>
                </a:solidFill>
                <a:latin typeface="Calibri"/>
                <a:ea typeface="Calibri"/>
                <a:cs typeface="Calibri"/>
              </a:rPr>
              <a:t>Thank you. Questions and discussion.</a:t>
            </a:r>
          </a:p>
        </p:txBody>
      </p:sp>
    </p:spTree>
    <p:extLst>
      <p:ext uri="{BB962C8B-B14F-4D97-AF65-F5344CB8AC3E}">
        <p14:creationId xmlns:p14="http://schemas.microsoft.com/office/powerpoint/2010/main" val="11225589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2026-10-08T11:20:52.5150000Z</dcterms:created>
  <dcterms:modified xsi:type="dcterms:W3CDTF">2026-10-08T11:20:52.5150000Z</dcterms:modified>
</coreProperties>
</file>