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5bc3ed6dd4b99" /><Relationship Type="http://schemas.openxmlformats.org/officeDocument/2006/relationships/extended-properties" Target="/docProps/app.xml" Id="R194e81432a5c4b44" /><Relationship Type="http://schemas.openxmlformats.org/officeDocument/2006/relationships/officeDocument" Target="/ppt/presentation.xml" Id="R573a1da43a394a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fc6fa697a74a2b"/>
  </p:sldMasterIdLst>
  <p:notesMasterIdLst>
    <p:notesMasterId xmlns:r="http://schemas.openxmlformats.org/officeDocument/2006/relationships" r:id="R169ec601e79a4df3"/>
  </p:notesMasterIdLst>
  <p:sldIdLst>
    <p:sldId xmlns:r="http://schemas.openxmlformats.org/officeDocument/2006/relationships" id="256" r:id="R82c26e3882a44626"/>
    <p:sldId xmlns:r="http://schemas.openxmlformats.org/officeDocument/2006/relationships" id="257" r:id="R4f4488e39d7f47c2"/>
    <p:sldId xmlns:r="http://schemas.openxmlformats.org/officeDocument/2006/relationships" id="258" r:id="R7f71e8c6edfe46b8"/>
    <p:sldId xmlns:r="http://schemas.openxmlformats.org/officeDocument/2006/relationships" id="259" r:id="Rcfb22dc60b7042a9"/>
    <p:sldId xmlns:r="http://schemas.openxmlformats.org/officeDocument/2006/relationships" id="260" r:id="R5439acfd89a84edd"/>
    <p:sldId xmlns:r="http://schemas.openxmlformats.org/officeDocument/2006/relationships" id="261" r:id="R40449da8cbce470d"/>
    <p:sldId xmlns:r="http://schemas.openxmlformats.org/officeDocument/2006/relationships" id="262" r:id="R3658aa7b825540b3"/>
    <p:sldId xmlns:r="http://schemas.openxmlformats.org/officeDocument/2006/relationships" id="263" r:id="R0695753445f94f22"/>
    <p:sldId xmlns:r="http://schemas.openxmlformats.org/officeDocument/2006/relationships" id="264" r:id="Ra29cf85c214a47eb"/>
    <p:sldId xmlns:r="http://schemas.openxmlformats.org/officeDocument/2006/relationships" id="265" r:id="R89d9b9dab0334372"/>
    <p:sldId xmlns:r="http://schemas.openxmlformats.org/officeDocument/2006/relationships" id="266" r:id="Rc468ed65477142b0"/>
    <p:sldId xmlns:r="http://schemas.openxmlformats.org/officeDocument/2006/relationships" id="267" r:id="R42147ce2b8d14e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e88516e9544b50" /><Relationship Type="http://schemas.openxmlformats.org/officeDocument/2006/relationships/slideMaster" Target="/ppt/slideMasters/slideMaster1.xml" Id="Rdffc6fa697a74a2b" /><Relationship Type="http://schemas.openxmlformats.org/officeDocument/2006/relationships/notesMaster" Target="/ppt/notesMasters/notesMaster1.xml" Id="R169ec601e79a4df3" /><Relationship Type="http://schemas.openxmlformats.org/officeDocument/2006/relationships/presProps" Target="/ppt/presProps.xml" Id="Rbc88c772e5b74f2e" /><Relationship Type="http://schemas.openxmlformats.org/officeDocument/2006/relationships/tableStyles" Target="/ppt/tableStyles.xml" Id="R3ea88ccc80ba4776" /><Relationship Type="http://schemas.openxmlformats.org/officeDocument/2006/relationships/slide" Target="/ppt/slides/slide1.xml" Id="R82c26e3882a44626" /><Relationship Type="http://schemas.openxmlformats.org/officeDocument/2006/relationships/slide" Target="/ppt/slides/slide2.xml" Id="R4f4488e39d7f47c2" /><Relationship Type="http://schemas.openxmlformats.org/officeDocument/2006/relationships/slide" Target="/ppt/slides/slide3.xml" Id="R7f71e8c6edfe46b8" /><Relationship Type="http://schemas.openxmlformats.org/officeDocument/2006/relationships/slide" Target="/ppt/slides/slide4.xml" Id="Rcfb22dc60b7042a9" /><Relationship Type="http://schemas.openxmlformats.org/officeDocument/2006/relationships/slide" Target="/ppt/slides/slide5.xml" Id="R5439acfd89a84edd" /><Relationship Type="http://schemas.openxmlformats.org/officeDocument/2006/relationships/slide" Target="/ppt/slides/slide6.xml" Id="R40449da8cbce470d" /><Relationship Type="http://schemas.openxmlformats.org/officeDocument/2006/relationships/slide" Target="/ppt/slides/slide7.xml" Id="R3658aa7b825540b3" /><Relationship Type="http://schemas.openxmlformats.org/officeDocument/2006/relationships/slide" Target="/ppt/slides/slide8.xml" Id="R0695753445f94f22" /><Relationship Type="http://schemas.openxmlformats.org/officeDocument/2006/relationships/slide" Target="/ppt/slides/slide9.xml" Id="Ra29cf85c214a47eb" /><Relationship Type="http://schemas.openxmlformats.org/officeDocument/2006/relationships/slide" Target="/ppt/slides/slide10.xml" Id="R89d9b9dab0334372" /><Relationship Type="http://schemas.openxmlformats.org/officeDocument/2006/relationships/slide" Target="/ppt/slides/slide11.xml" Id="Rc468ed65477142b0" /><Relationship Type="http://schemas.openxmlformats.org/officeDocument/2006/relationships/slide" Target="/ppt/slides/slide12.xml" Id="R42147ce2b8d14e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28be05010e45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073e51b0444867" /><Relationship Type="http://schemas.openxmlformats.org/officeDocument/2006/relationships/notesMaster" Target="/ppt/notesMasters/notesMaster1.xml" Id="Rfed7ab94fa964d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40209fb5d84c73" /><Relationship Type="http://schemas.openxmlformats.org/officeDocument/2006/relationships/notesMaster" Target="/ppt/notesMasters/notesMaster1.xml" Id="R347377a5dda3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277d11414d47fb" /><Relationship Type="http://schemas.openxmlformats.org/officeDocument/2006/relationships/notesMaster" Target="/ppt/notesMasters/notesMaster1.xml" Id="R00da0f5fa31d43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915b4661674f98" /><Relationship Type="http://schemas.openxmlformats.org/officeDocument/2006/relationships/notesMaster" Target="/ppt/notesMasters/notesMaster1.xml" Id="R06c4c6af153346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2725380e8c47f9" /><Relationship Type="http://schemas.openxmlformats.org/officeDocument/2006/relationships/notesMaster" Target="/ppt/notesMasters/notesMaster1.xml" Id="R8e7b4b2d85334e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7815b3efdd415e" /><Relationship Type="http://schemas.openxmlformats.org/officeDocument/2006/relationships/notesMaster" Target="/ppt/notesMasters/notesMaster1.xml" Id="Rf758a30f144a47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91fc2794e44256" /><Relationship Type="http://schemas.openxmlformats.org/officeDocument/2006/relationships/notesMaster" Target="/ppt/notesMasters/notesMaster1.xml" Id="R49ba5fc974aa49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9175807b7f4839" /><Relationship Type="http://schemas.openxmlformats.org/officeDocument/2006/relationships/notesMaster" Target="/ppt/notesMasters/notesMaster1.xml" Id="R3a59921a68e345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e81a9c646a4dca" /><Relationship Type="http://schemas.openxmlformats.org/officeDocument/2006/relationships/notesMaster" Target="/ppt/notesMasters/notesMaster1.xml" Id="R54f466f3ac2747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ccce9a94f4913" /><Relationship Type="http://schemas.openxmlformats.org/officeDocument/2006/relationships/notesMaster" Target="/ppt/notesMasters/notesMaster1.xml" Id="Rdd46b963e98346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65994b09e04f43" /><Relationship Type="http://schemas.openxmlformats.org/officeDocument/2006/relationships/notesMaster" Target="/ppt/notesMasters/notesMaster1.xml" Id="R019f9f33a57943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7eb810ebd747cc" /><Relationship Type="http://schemas.openxmlformats.org/officeDocument/2006/relationships/notesMaster" Target="/ppt/notesMasters/notesMaster1.xml" Id="Rbeb9369f48f7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Entrepreneurship   Assignment 3   8 October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27 Google Forms screenshots and three supplied recordings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 2 customer definition and survey Q01, Q03; priorities are team judgements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Q05 n=19, Q06 n=20, Q10 n=19; percentages use each question’s 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Q13 and Q16, n=20. Concerns allow multiple selections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Q17 and Q18, n=20. Action preferences allow multiple selections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Q21 and Q23, n=9. Technical experience does not confirm buyer status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interview notes I01–I03, with source timestamps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 2 baseline, survey Q16–Q25 and interview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hypotheses; survey preferences do not establish price levels or revenue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experiments and decision rules, not achieved 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survey evidence, interview notes and Assignment 3 assessment requirements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70a89a7b949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8c9f4902541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419edb47444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8b46789e044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aa5db16ab4e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89d4f34f84d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A16050-DE9C-43FF-8E4D-9DE9DC5327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9FC1CB-4359-4A25-AA05-18E2278F55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485FFF-38F9-4406-A178-8D0EF7C57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80C3B2-629F-4A91-BD2A-FFE37FFF24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F4562F-5B42-46C3-BB58-C307EB47DA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8C92B3-6FCC-4DD2-9293-37CE14FA2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351028-F3EB-47B8-A52F-1F23C3118E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F3FB74-AC66-4DA1-AE50-5AE96A8774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4EE013-2CE4-4562-B3ED-187ADA2F88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9AA94F-74DC-49BE-B2DF-912DE88A6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762ef7874f4f19" /><Relationship Type="http://schemas.openxmlformats.org/officeDocument/2006/relationships/slideLayout" Target="/ppt/slideLayouts/slideLayout1.xml" Id="R57911a2c25ad49e5" /><Relationship Type="http://schemas.openxmlformats.org/officeDocument/2006/relationships/slideLayout" Target="/ppt/slideLayouts/slideLayout2.xml" Id="Rf6acf789ce664623" /><Relationship Type="http://schemas.openxmlformats.org/officeDocument/2006/relationships/slideLayout" Target="/ppt/slideLayouts/slideLayout3.xml" Id="R848f5d3389ea42e2" /><Relationship Type="http://schemas.openxmlformats.org/officeDocument/2006/relationships/slideLayout" Target="/ppt/slideLayouts/slideLayout4.xml" Id="R39efd4a14e254280" /><Relationship Type="http://schemas.openxmlformats.org/officeDocument/2006/relationships/slideLayout" Target="/ppt/slideLayouts/slideLayout5.xml" Id="R1b3e1498c92f4403" /><Relationship Type="http://schemas.openxmlformats.org/officeDocument/2006/relationships/slideLayout" Target="/ppt/slideLayouts/slideLayout6.xml" Id="R0ca9497da3a2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911a2c25ad49e5"/>
    <p:sldLayoutId xmlns:r="http://schemas.openxmlformats.org/officeDocument/2006/relationships" id="2147483650" r:id="Rf6acf789ce664623"/>
    <p:sldLayoutId xmlns:r="http://schemas.openxmlformats.org/officeDocument/2006/relationships" id="2147483651" r:id="R848f5d3389ea42e2"/>
    <p:sldLayoutId xmlns:r="http://schemas.openxmlformats.org/officeDocument/2006/relationships" id="2147483652" r:id="R39efd4a14e254280"/>
    <p:sldLayoutId xmlns:r="http://schemas.openxmlformats.org/officeDocument/2006/relationships" id="2147483653" r:id="R1b3e1498c92f4403"/>
    <p:sldLayoutId xmlns:r="http://schemas.openxmlformats.org/officeDocument/2006/relationships" id="2147483654" r:id="R0ca9497da3a2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76139e6614a7b" /><Relationship Type="http://schemas.openxmlformats.org/officeDocument/2006/relationships/notesSlide" Target="/ppt/notesSlides/notesSlide1.xml" Id="Ra8398daea00f4c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a3f981bde4973" /><Relationship Type="http://schemas.openxmlformats.org/officeDocument/2006/relationships/notesSlide" Target="/ppt/notesSlides/notesSlide2.xml" Id="R6467ab1e977d41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a453942d94ad1" /><Relationship Type="http://schemas.openxmlformats.org/officeDocument/2006/relationships/notesSlide" Target="/ppt/notesSlides/notesSlide3.xml" Id="Rbcb070649d4043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32336f17647a0" /><Relationship Type="http://schemas.openxmlformats.org/officeDocument/2006/relationships/notesSlide" Target="/ppt/notesSlides/notesSlide4.xml" Id="Re7aa123ec4fb46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4d5e35e334b53" /><Relationship Type="http://schemas.openxmlformats.org/officeDocument/2006/relationships/chart" Target="/ppt/slides/charts/chart1.xml" Id="R93b23702d09b4781" /><Relationship Type="http://schemas.openxmlformats.org/officeDocument/2006/relationships/notesSlide" Target="/ppt/notesSlides/notesSlide5.xml" Id="R69e457a6bba742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73a3df0414fa8" /><Relationship Type="http://schemas.openxmlformats.org/officeDocument/2006/relationships/chart" Target="/ppt/slides/charts/chart2.xml" Id="R2f6cfdd056944361" /><Relationship Type="http://schemas.openxmlformats.org/officeDocument/2006/relationships/notesSlide" Target="/ppt/notesSlides/notesSlide6.xml" Id="R1a3f98d6cf864e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ab83ba8364f7b" /><Relationship Type="http://schemas.openxmlformats.org/officeDocument/2006/relationships/chart" Target="/ppt/slides/charts/chart3.xml" Id="Rb3856d125dba4366" /><Relationship Type="http://schemas.openxmlformats.org/officeDocument/2006/relationships/notesSlide" Target="/ppt/notesSlides/notesSlide7.xml" Id="Rb84c7b9abfde4f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e6e4c7cb94bf1" /><Relationship Type="http://schemas.openxmlformats.org/officeDocument/2006/relationships/notesSlide" Target="/ppt/notesSlides/notesSlide8.xml" Id="R4ee0dcdd14ec40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1d7b8ce73424d" /><Relationship Type="http://schemas.openxmlformats.org/officeDocument/2006/relationships/notesSlide" Target="/ppt/notesSlides/notesSlide9.xml" Id="R691cbb9e691940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c8b237f634200" /><Relationship Type="http://schemas.openxmlformats.org/officeDocument/2006/relationships/notesSlide" Target="/ppt/notesSlides/notesSlide10.xml" Id="Rbeeb78f555d749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312af9c514492" /><Relationship Type="http://schemas.openxmlformats.org/officeDocument/2006/relationships/notesSlide" Target="/ppt/notesSlides/notesSlide11.xml" Id="R5afc152e45c443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c9d999fa214adc" /><Relationship Type="http://schemas.openxmlformats.org/officeDocument/2006/relationships/notesSlide" Target="/ppt/notesSlides/notesSlide12.xml" Id="R9674c63a9cb643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Respondents</c:v>
          </c:tx>
          <c:spPr>
            <a:solidFill xmlns:a="http://schemas.openxmlformats.org/drawingml/2006/main">
              <a:srgbClr val="6252B3"/>
            </a:solidFill>
          </c:spPr>
          <c:cat>
            <c:strRef>
              <c:f>'Chart Data'!$A$2:$A$5</c:f>
              <c:strCache>
                <c:ptCount val="4"/>
                <c:pt idx="0">
                  <c:v>Accuracy</c:v>
                </c:pt>
                <c:pt idx="1">
                  <c:v>False positives</c:v>
                </c:pt>
                <c:pt idx="2">
                  <c:v>Telemetry privacy</c:v>
                </c:pt>
                <c:pt idx="3">
                  <c:v>Server costs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11</c:v>
                </c:pt>
                <c:pt idx="1">
                  <c:v>9</c:v>
                </c:pt>
                <c:pt idx="2">
                  <c:v>9</c:v>
                </c:pt>
                <c:pt idx="3">
                  <c:v>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24D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9D9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Respondents</c:v>
          </c:tx>
          <c:spPr>
            <a:solidFill xmlns:a="http://schemas.openxmlformats.org/drawingml/2006/main">
              <a:srgbClr val="6252B3"/>
            </a:solidFill>
          </c:spPr>
          <c:cat>
            <c:strRef>
              <c:f>'Chart Data'!$A$2:$A$5</c:f>
              <c:strCache>
                <c:ptCount val="4"/>
                <c:pt idx="0">
                  <c:v>Manual review</c:v>
                </c:pt>
                <c:pt idx="1">
                  <c:v>Extra verification</c:v>
                </c:pt>
                <c:pt idx="2">
                  <c:v>Temporary limits</c:v>
                </c:pt>
                <c:pt idx="3">
                  <c:v>Immediate ban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12</c:v>
                </c:pt>
                <c:pt idx="2">
                  <c:v>8</c:v>
                </c:pt>
                <c:pt idx="3">
                  <c:v>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24D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9D9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Respondents</c:v>
          </c:tx>
          <c:spPr>
            <a:solidFill xmlns:a="http://schemas.openxmlformats.org/drawingml/2006/main">
              <a:srgbClr val="6252B3"/>
            </a:solidFill>
          </c:spPr>
          <c:cat>
            <c:strRef>
              <c:f>'Chart Data'!$A$2:$A$6</c:f>
              <c:strCache>
                <c:ptCount val="5"/>
                <c:pt idx="0">
                  <c:v>Self-hosted</c:v>
                </c:pt>
                <c:pt idx="1">
                  <c:v>REST API</c:v>
                </c:pt>
                <c:pt idx="2">
                  <c:v>SDK</c:v>
                </c:pt>
                <c:pt idx="3">
                  <c:v>Engine plugin</c:v>
                </c:pt>
                <c:pt idx="4">
                  <c:v>Managed cloud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6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24D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9D9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FB2B1-4A6F-461D-8C40-52D5ABF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SUB-CHECK Customer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F7275-EA2A-46B9-9ABE-D0D1BF2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Technology Entrepreneurship   Assignment 3  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02F7A-10E3-4CE4-A00F-D72379EC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5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Server-side aim analysis for studio moderators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4152E-73C3-4269-9BC0-26EE005E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Nurzhan Bekmurat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Azamat Yermukhan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Yernur Khuan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Group CS-2406</a:t>
            </a:r>
          </a:p>
        </p:txBody>
      </p:sp>
    </p:spTree>
    <p:extLst>
      <p:ext uri="{BB962C8B-B14F-4D97-AF65-F5344CB8AC3E}">
        <p14:creationId xmlns:p14="http://schemas.microsoft.com/office/powerpoint/2010/main" val="978207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7D9E3-C7D1-4AB7-966B-D615B43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Research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A8B82-7CF8-4E13-A974-9875E5FC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27 Google Forms screenshots and three supplied recordings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A5F0C-4E02-4BA7-B9C5-6DFE4E54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 survey participants, with question bases of 20, 19 or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01768-B63D-488F-86BB-DB35037D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 recordings, analysed separately from the survey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56290-CF9F-4145-AB3C-B72F562E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Aggregate charts support counts, but not individual response reconstruction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2F422-14EA-4DDD-A4FA-51B8BD68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The sample remains below 30 online respondents or 5 face-to-face video interviews</a:t>
            </a:r>
          </a:p>
        </p:txBody>
      </p:sp>
    </p:spTree>
    <p:extLst>
      <p:ext uri="{BB962C8B-B14F-4D97-AF65-F5344CB8AC3E}">
        <p14:creationId xmlns:p14="http://schemas.microsoft.com/office/powerpoint/2010/main" val="2068803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5371C-F69D-4174-A3C9-5E17A597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Customer roles and recruitment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F6BA1-84FD-4A41-BD64-27C8BEB7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Assignment 2 customer definition and survey Q01, Q03; priorities are team judgements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3276B-9F48-44C4-A713-A5428AF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Buyer: indie or AA shooter studio lead with a budget and integration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E2FCA-628F-44AC-B5AF-030ED6E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Operational user: moderator reviewing suspicious matches and appeals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D9D34-B506-4F0D-A141-621F21EE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Player: benefits from fair matches and defensible enforcement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AD240-83E7-4A3F-805E-F626157A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Next recruitment priority: confirmed studio buyers and moderators</a:t>
            </a:r>
          </a:p>
        </p:txBody>
      </p:sp>
    </p:spTree>
    <p:extLst>
      <p:ext uri="{BB962C8B-B14F-4D97-AF65-F5344CB8AC3E}">
        <p14:creationId xmlns:p14="http://schemas.microsoft.com/office/powerpoint/2010/main" val="14041876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845C0-BF8E-4C04-BEC0-7C3AE851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Cheating is a meaningful problem in this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37551-71C9-46A1-9356-54186BA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Q05 n=19, Q06 n=20, Q10 n=19; percentages use each question’s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CAE6B-8151-48D9-AB58-633754B3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63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89.5%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19F49-9323-4D95-BC67-B560BA14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17 of 19 rate cheating seriousness at 4–5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248B8-FD3E-48AD-BD52-0690DB5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63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94FC1-7683-442D-BE85-44EBB7B2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14 of 20 encounter cheating frequently or sometimes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A92F1-0F4F-4C31-BC01-C13B3629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Existing solution satisfaction averages 2.95/5 across 19 answers.</a:t>
            </a:r>
          </a:p>
        </p:txBody>
      </p:sp>
    </p:spTree>
    <p:extLst>
      <p:ext uri="{BB962C8B-B14F-4D97-AF65-F5344CB8AC3E}">
        <p14:creationId xmlns:p14="http://schemas.microsoft.com/office/powerpoint/2010/main" val="1488760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74929-4D4B-4223-86D5-80C21C71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Concept interest and accuracy concerns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BF6E0-C37B-47DA-A798-D6D6B948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Q13 and Q16, n=20. Concerns allow multiple selections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F15CAA6-A0C4-49E6-ACAD-AFAEC06A9B89}"/>
              </a:ext>
            </a:extLst>
          </p:cNvPr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b23702d09b478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14490-ABEE-4F6C-AD15-62C9BB05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85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16 of 20 rate usefulness at 4–5.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 benchmark or purchase commitment follows from this interest.</a:t>
            </a:r>
          </a:p>
        </p:txBody>
      </p:sp>
    </p:spTree>
    <p:extLst>
      <p:ext uri="{BB962C8B-B14F-4D97-AF65-F5344CB8AC3E}">
        <p14:creationId xmlns:p14="http://schemas.microsoft.com/office/powerpoint/2010/main" val="1363493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A93A6-3CE1-4DEA-AFAA-3941DB3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Enforcement preferences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F869B-ADE5-496A-982E-F6EDE4BB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Q17 and Q18, n=20. Action preferences allow multiple selections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B5029EE-129C-4C57-8431-E1F66ACD24D1}"/>
              </a:ext>
            </a:extLst>
          </p:cNvPr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6cfdd05694436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F041B-8152-47F2-AF76-876A9554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85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 of 20 say review before permanent bans would increase trust.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The cost and delay of review remain untested.</a:t>
            </a:r>
          </a:p>
        </p:txBody>
      </p:sp>
    </p:spTree>
    <p:extLst>
      <p:ext uri="{BB962C8B-B14F-4D97-AF65-F5344CB8AC3E}">
        <p14:creationId xmlns:p14="http://schemas.microsoft.com/office/powerpoint/2010/main" val="754897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1D919-7416-4D80-8397-C2E2B31D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Deployment control matters to technical respondents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2711B-30C5-4F3A-9A07-5C91D9A6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Q21 and Q23, n=9. Technical experience does not confirm buyer status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4956C4C-ECF8-4C90-BC0A-4568FAA09226}"/>
              </a:ext>
            </a:extLst>
          </p:cNvPr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856d125dba436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8A18F-302B-4294-9662-0632DCE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85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5 of 9 accept telemetry sharing only with strict privacy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Multiple selections may overlap.</a:t>
            </a:r>
          </a:p>
        </p:txBody>
      </p:sp>
    </p:spTree>
    <p:extLst>
      <p:ext uri="{BB962C8B-B14F-4D97-AF65-F5344CB8AC3E}">
        <p14:creationId xmlns:p14="http://schemas.microsoft.com/office/powerpoint/2010/main" val="1214839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0803F-8AB9-4E69-8E77-D271BC5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Recorded interviews distinguish different customer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550EF-0938-4399-92E0-0A29215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interview notes I01–I03, with source timestamps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DAB64-AEBC-49B0-AC1F-56E32F59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I01 mobile director: game values and data control matter more than aim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3D344-BC1C-4AE5-985B-1F2EDFCA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I02 indie developer: leaderboard reliability and configurable SDK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6B9DD-09D7-4466-B3DC-4742715F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I03 multiplayer developer: telemetry must not block play or penalise service failures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D5B10-2ECD-4BEF-BED0-642280E8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Scope: prioritise studios with an actual aim-cheat review problem</a:t>
            </a:r>
          </a:p>
        </p:txBody>
      </p:sp>
    </p:spTree>
    <p:extLst>
      <p:ext uri="{BB962C8B-B14F-4D97-AF65-F5344CB8AC3E}">
        <p14:creationId xmlns:p14="http://schemas.microsoft.com/office/powerpoint/2010/main" val="859575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108D9-86EA-45B4-86AA-13E7D06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Business idea updates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7D50A-5D47-4C33-80EA-D08F222C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Assignment 2 baseline, survey Q16–Q25 and interview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19CAB-DE30-4E64-AA78-A59EFABF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Retain supplementary aim analysis and moderator enforcement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558E2-5901-42C3-94E9-E4F099C8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Qualify telemetry access and evaluate self-hosted deployment alongside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9FABD-0E66-43E0-A552-9DBD7B5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Add minimal telemetry, explicit retention and a review trail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CDAEA-144E-41A7-AB97-F75D8672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Use a bounded free pilot and test paid offers with studio buyers</a:t>
            </a:r>
          </a:p>
        </p:txBody>
      </p:sp>
    </p:spTree>
    <p:extLst>
      <p:ext uri="{BB962C8B-B14F-4D97-AF65-F5344CB8AC3E}">
        <p14:creationId xmlns:p14="http://schemas.microsoft.com/office/powerpoint/2010/main" val="268808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8BB25-7577-4FE2-A4F1-54A324B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Updated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48D54-24CA-4327-9404-6A6D7A83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Working hypotheses; survey preferences do not establish price levels or revenue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33ABF-5724-45C0-86C6-259152A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Customer: studio lead buys; moderators use the review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AA517-8F0F-4922-978C-0A034872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Value: prioritised aim events with evidence and human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9289C-46B2-4562-9F84-7DC9C2ED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Delivery: documented API plus deployment choice and assisted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DDD70-1C3B-4EA6-87D4-4FE3C963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Revenue: test monthly or usage plans after a free pilot; measure operating costs</a:t>
            </a:r>
          </a:p>
        </p:txBody>
      </p:sp>
    </p:spTree>
    <p:extLst>
      <p:ext uri="{BB962C8B-B14F-4D97-AF65-F5344CB8AC3E}">
        <p14:creationId xmlns:p14="http://schemas.microsoft.com/office/powerpoint/2010/main" val="1257469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188EF-855B-437D-A133-5B197732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Pilot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4D29C-4D7D-4540-AFE3-FCE3F2A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Proposed experiments and decision rules, not achieved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EC595-F433-4834-8703-3EE7D2C5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Interview at least 8 studio leads or moderators about recent incidents and budgets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1658D-A535-4DCE-90EA-B700BC9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Seek 3 concrete studio pilots with a data owner and permitted telemetry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C544F-517E-4A37-9AE4-A46A4A9A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Measure detection quality on held-out players and review every enforcement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C3AF0-8E56-4224-8734-E034D81C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Target 20% shorter median review time without worse decisions</a:t>
            </a:r>
          </a:p>
        </p:txBody>
      </p:sp>
    </p:spTree>
    <p:extLst>
      <p:ext uri="{BB962C8B-B14F-4D97-AF65-F5344CB8AC3E}">
        <p14:creationId xmlns:p14="http://schemas.microsoft.com/office/powerpoint/2010/main" val="12962360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1BBC2-100D-4EC3-8B19-18FF2C0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Conclusion and remaining evidence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1E4C5-CCD2-4FD1-A5F3-D6F8C73C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647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56474"/>
                </a:solidFill>
                <a:latin typeface="Calibri"/>
                <a:ea typeface="Calibri"/>
                <a:cs typeface="Calibri"/>
              </a:rPr>
              <a:t>Source: survey evidence, interview notes and Assignment 3 assessment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8634C-66EF-42AD-BB59-5CFDF6FB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The evidence supports focused evaluation of SUB-CHECK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585A0-7A60-49CA-BC40-9E11D4F9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Accuracy, false alerts and telemetry control are the immediate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914FB-E781-4784-A18B-3C20449A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Buyer demand, paid conversion and technical performance remain unvalidated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30A6A-3D3D-466A-B82D-4790E36A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Additional participant evidence is still needed to meet the assignment minimum</a:t>
            </a:r>
          </a:p>
        </p:txBody>
      </p:sp>
    </p:spTree>
    <p:extLst>
      <p:ext uri="{BB962C8B-B14F-4D97-AF65-F5344CB8AC3E}">
        <p14:creationId xmlns:p14="http://schemas.microsoft.com/office/powerpoint/2010/main" val="728051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2026-10-08T10:23:40.2020000Z</dcterms:created>
  <dcterms:modified xsi:type="dcterms:W3CDTF">2026-10-08T10:23:40.2020000Z</dcterms:modified>
</coreProperties>
</file>